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Partners</c:v>
                </c:pt>
              </c:strCache>
            </c:strRef>
          </c:tx>
          <c:spPr>
            <a:solidFill>
              <a:srgbClr val="C00000"/>
            </a:solidFill>
            <a:effectLst/>
          </c:spPr>
          <c:invertIfNegative val="0"/>
          <c:dLbls>
            <c:numFmt formatCode="#,##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C00000"/>
              </a:solidFill>
              <a:effectLst/>
            </c:spPr>
          </c:dPt>
          <c:dPt>
            <c:idx val="2"/>
            <c:invertIfNegative val="0"/>
            <c:bubble3D val="0"/>
            <c:spPr>
              <a:solidFill>
                <a:srgbClr val="C00000"/>
              </a:solidFill>
              <a:effectLst/>
            </c:spPr>
          </c:dPt>
          <c:dPt>
            <c:idx val="3"/>
            <c:invertIfNegative val="0"/>
            <c:bubble3D val="0"/>
            <c:spPr>
              <a:solidFill>
                <a:srgbClr val="595959"/>
              </a:solidFill>
              <a:effectLst/>
            </c:spPr>
          </c:dPt>
          <c:dPt>
            <c:idx val="4"/>
            <c:invertIfNegative val="0"/>
            <c:bubble3D val="0"/>
            <c:spPr>
              <a:solidFill>
                <a:srgbClr val="595959"/>
              </a:solidFill>
              <a:effectLst/>
            </c:spPr>
          </c:dPt>
          <c:dPt>
            <c:idx val="5"/>
            <c:invertIfNegative val="0"/>
            <c:bubble3D val="0"/>
            <c:spPr>
              <a:solidFill>
                <a:srgbClr val="595959"/>
              </a:solidFill>
              <a:effectLst/>
            </c:spPr>
          </c:dPt>
          <c:dPt>
            <c:idx val="6"/>
            <c:invertIfNegative val="0"/>
            <c:bubble3D val="0"/>
            <c:spPr>
              <a:solidFill>
                <a:srgbClr val="595959"/>
              </a:solidFill>
              <a:effectLst/>
            </c:spPr>
          </c:dPt>
          <c:dPt>
            <c:idx val="7"/>
            <c:invertIfNegative val="0"/>
            <c:bubble3D val="0"/>
            <c:spPr>
              <a:solidFill>
                <a:srgbClr val="595959"/>
              </a:solidFill>
              <a:effectLst/>
            </c:spPr>
          </c:dPt>
          <c:dPt>
            <c:idx val="8"/>
            <c:invertIfNegative val="0"/>
            <c:bubble3D val="0"/>
            <c:spPr>
              <a:solidFill>
                <a:srgbClr val="595959"/>
              </a:solidFill>
              <a:effectLst/>
            </c:spPr>
          </c:dPt>
          <c:dPt>
            <c:idx val="9"/>
            <c:invertIfNegative val="0"/>
            <c:bubble3D val="0"/>
            <c:spPr>
              <a:solidFill>
                <a:srgbClr val="595959"/>
              </a:solidFill>
              <a:effectLst/>
            </c:spPr>
          </c:dPt>
          <c:dPt>
            <c:idx val="10"/>
            <c:invertIfNegative val="0"/>
            <c:bubble3D val="0"/>
            <c:spPr>
              <a:solidFill>
                <a:srgbClr val="595959"/>
              </a:solidFill>
              <a:effectLst/>
            </c:spPr>
          </c:dPt>
          <c:cat>
            <c:multiLvlStrRef>
              <c:f>Sheet1!$A$2:$A$12</c:f>
              <c:multiLvlStrCache>
                <c:ptCount val="11"/>
                <c:lvl>
                  <c:pt idx="0">
                    <c:v>McLaren</c:v>
                  </c:pt>
                  <c:pt idx="1">
                    <c:v>Alpine</c:v>
                  </c:pt>
                  <c:pt idx="2">
                    <c:v>Ferrari</c:v>
                  </c:pt>
                  <c:pt idx="3">
                    <c:v>Aston Martin</c:v>
                  </c:pt>
                  <c:pt idx="4">
                    <c:v>Red Bull Racing</c:v>
                  </c:pt>
                  <c:pt idx="5">
                    <c:v>Mercedes</c:v>
                  </c:pt>
                  <c:pt idx="6">
                    <c:v>Haas</c:v>
                  </c:pt>
                  <c:pt idx="7">
                    <c:v>Racing Bulls</c:v>
                  </c:pt>
                  <c:pt idx="8">
                    <c:v>Audi</c:v>
                  </c:pt>
                  <c:pt idx="9">
                    <c:v>Williams</c:v>
                  </c:pt>
                  <c:pt idx="10">
                    <c:v>Cadillac</c:v>
                  </c:pt>
                </c:lvl>
              </c:multiLvlStrCache>
            </c:multiLvlStrRef>
          </c:cat>
          <c:val>
            <c:numRef>
              <c:f>Sheet1!$B$2:$B$12</c:f>
              <c:numCache>
                <c:formatCode>General</c:formatCode>
                <c:ptCount val="11"/>
                <c:pt idx="0">
                  <c:v>52</c:v>
                </c:pt>
                <c:pt idx="1">
                  <c:v>48</c:v>
                </c:pt>
                <c:pt idx="2">
                  <c:v>41</c:v>
                </c:pt>
                <c:pt idx="3">
                  <c:v>39</c:v>
                </c:pt>
                <c:pt idx="4">
                  <c:v>34</c:v>
                </c:pt>
                <c:pt idx="5">
                  <c:v>30</c:v>
                </c:pt>
                <c:pt idx="6">
                  <c:v>27</c:v>
                </c:pt>
                <c:pt idx="7">
                  <c:v>27</c:v>
                </c:pt>
                <c:pt idx="8">
                  <c:v>26</c:v>
                </c:pt>
                <c:pt idx="9">
                  <c:v>26</c:v>
                </c:pt>
                <c:pt idx="10">
                  <c:v>11</c:v>
                </c:pt>
              </c:numCache>
            </c:numRef>
          </c:val>
        </c:ser>
        <c:dLbls>
          <c:numFmt formatCode="#,##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Financial services</c:v>
                </c:pt>
              </c:strCache>
            </c:strRef>
          </c:tx>
          <c:spPr>
            <a:solidFill>
              <a:srgbClr val="C00000"/>
            </a:solidFill>
            <a:effectLst/>
          </c:spPr>
          <c:invertIfNegative val="0"/>
          <c:dLbls>
            <c:numFmt formatCode="0;-0;;@"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Sheet1!$A$2:$A$13</c:f>
              <c:multiLvlStrCache>
                <c:ptCount val="12"/>
                <c:lvl>
                  <c:pt idx="0">
                    <c:v>McLaren
21%</c:v>
                  </c:pt>
                  <c:pt idx="1">
                    <c:v>Ferrari
17%</c:v>
                  </c:pt>
                  <c:pt idx="2">
                    <c:v>Alpine
13%</c:v>
                  </c:pt>
                  <c:pt idx="3">
                    <c:v>Aston Martin
15%</c:v>
                  </c:pt>
                  <c:pt idx="4">
                    <c:v>F1 (central)
17%</c:v>
                  </c:pt>
                  <c:pt idx="5">
                    <c:v>Mercedes
20%</c:v>
                  </c:pt>
                  <c:pt idx="6">
                    <c:v>Red Bull Racing
15%</c:v>
                  </c:pt>
                  <c:pt idx="7">
                    <c:v>Haas
19%</c:v>
                  </c:pt>
                  <c:pt idx="8">
                    <c:v>Williams
19%</c:v>
                  </c:pt>
                  <c:pt idx="9">
                    <c:v>Racing Bulls
15%</c:v>
                  </c:pt>
                  <c:pt idx="10">
                    <c:v>Audi
12%</c:v>
                  </c:pt>
                  <c:pt idx="11">
                    <c:v>Cadillac
0%</c:v>
                  </c:pt>
                </c:lvl>
              </c:multiLvlStrCache>
            </c:multiLvlStrRef>
          </c:cat>
          <c:val>
            <c:numRef>
              <c:f>Sheet1!$B$2:$B$13</c:f>
              <c:numCache>
                <c:formatCode>General</c:formatCode>
                <c:ptCount val="12"/>
                <c:pt idx="0">
                  <c:v>6</c:v>
                </c:pt>
                <c:pt idx="1">
                  <c:v>5</c:v>
                </c:pt>
                <c:pt idx="2">
                  <c:v>2</c:v>
                </c:pt>
                <c:pt idx="3">
                  <c:v>4</c:v>
                </c:pt>
                <c:pt idx="4">
                  <c:v>5</c:v>
                </c:pt>
                <c:pt idx="5">
                  <c:v>4</c:v>
                </c:pt>
                <c:pt idx="6">
                  <c:v>4</c:v>
                </c:pt>
                <c:pt idx="7">
                  <c:v>4</c:v>
                </c:pt>
                <c:pt idx="8">
                  <c:v>5</c:v>
                </c:pt>
                <c:pt idx="9">
                  <c:v>3</c:v>
                </c:pt>
                <c:pt idx="10">
                  <c:v>3</c:v>
                </c:pt>
                <c:pt idx="11">
                  <c:v>0</c:v>
                </c:pt>
              </c:numCache>
            </c:numRef>
          </c:val>
        </c:ser>
        <c:ser>
          <c:idx val="1"/>
          <c:order val="1"/>
          <c:tx>
            <c:strRef>
              <c:f>Sheet1!$C$1</c:f>
              <c:strCache>
                <c:ptCount val="1"/>
                <c:pt idx="0">
                  <c:v>Professional services</c:v>
                </c:pt>
              </c:strCache>
            </c:strRef>
          </c:tx>
          <c:spPr>
            <a:solidFill>
              <a:srgbClr val="595959"/>
            </a:solidFill>
            <a:effectLst/>
          </c:spPr>
          <c:invertIfNegative val="0"/>
          <c:dLbls>
            <c:numFmt formatCode="0;-0;;@"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Sheet1!$A$2:$A$13</c:f>
              <c:multiLvlStrCache>
                <c:ptCount val="12"/>
                <c:lvl>
                  <c:pt idx="0">
                    <c:v>McLaren
21%</c:v>
                  </c:pt>
                  <c:pt idx="1">
                    <c:v>Ferrari
17%</c:v>
                  </c:pt>
                  <c:pt idx="2">
                    <c:v>Alpine
13%</c:v>
                  </c:pt>
                  <c:pt idx="3">
                    <c:v>Aston Martin
15%</c:v>
                  </c:pt>
                  <c:pt idx="4">
                    <c:v>F1 (central)
17%</c:v>
                  </c:pt>
                  <c:pt idx="5">
                    <c:v>Mercedes
20%</c:v>
                  </c:pt>
                  <c:pt idx="6">
                    <c:v>Red Bull Racing
15%</c:v>
                  </c:pt>
                  <c:pt idx="7">
                    <c:v>Haas
19%</c:v>
                  </c:pt>
                  <c:pt idx="8">
                    <c:v>Williams
19%</c:v>
                  </c:pt>
                  <c:pt idx="9">
                    <c:v>Racing Bulls
15%</c:v>
                  </c:pt>
                  <c:pt idx="10">
                    <c:v>Audi
12%</c:v>
                  </c:pt>
                  <c:pt idx="11">
                    <c:v>Cadillac
0%</c:v>
                  </c:pt>
                </c:lvl>
              </c:multiLvlStrCache>
            </c:multiLvlStrRef>
          </c:cat>
          <c:val>
            <c:numRef>
              <c:f>Sheet1!$C$2:$C$13</c:f>
              <c:numCache>
                <c:formatCode>General</c:formatCode>
                <c:ptCount val="12"/>
                <c:pt idx="0">
                  <c:v>4</c:v>
                </c:pt>
                <c:pt idx="1">
                  <c:v>2</c:v>
                </c:pt>
                <c:pt idx="2">
                  <c:v>3</c:v>
                </c:pt>
                <c:pt idx="3">
                  <c:v>2</c:v>
                </c:pt>
                <c:pt idx="4">
                  <c:v>1</c:v>
                </c:pt>
                <c:pt idx="5">
                  <c:v>2</c:v>
                </c:pt>
                <c:pt idx="6">
                  <c:v>1</c:v>
                </c:pt>
                <c:pt idx="7">
                  <c:v>0</c:v>
                </c:pt>
                <c:pt idx="8">
                  <c:v>0</c:v>
                </c:pt>
                <c:pt idx="9">
                  <c:v>1</c:v>
                </c:pt>
                <c:pt idx="10">
                  <c:v>0</c:v>
                </c:pt>
                <c:pt idx="11">
                  <c:v>0</c:v>
                </c:pt>
              </c:numCache>
            </c:numRef>
          </c:val>
        </c:ser>
        <c:ser>
          <c:idx val="2"/>
          <c:order val="2"/>
          <c:tx>
            <c:strRef>
              <c:f>Sheet1!$D$1</c:f>
              <c:strCache>
                <c:ptCount val="1"/>
                <c:pt idx="0">
                  <c:v>Life sciences &amp; health</c:v>
                </c:pt>
              </c:strCache>
            </c:strRef>
          </c:tx>
          <c:spPr>
            <a:solidFill>
              <a:srgbClr val="A6A6A6"/>
            </a:solidFill>
            <a:effectLst/>
          </c:spPr>
          <c:invertIfNegative val="0"/>
          <c:dLbls>
            <c:numFmt formatCode="0;-0;;@"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Sheet1!$A$2:$A$13</c:f>
              <c:multiLvlStrCache>
                <c:ptCount val="12"/>
                <c:lvl>
                  <c:pt idx="0">
                    <c:v>McLaren
21%</c:v>
                  </c:pt>
                  <c:pt idx="1">
                    <c:v>Ferrari
17%</c:v>
                  </c:pt>
                  <c:pt idx="2">
                    <c:v>Alpine
13%</c:v>
                  </c:pt>
                  <c:pt idx="3">
                    <c:v>Aston Martin
15%</c:v>
                  </c:pt>
                  <c:pt idx="4">
                    <c:v>F1 (central)
17%</c:v>
                  </c:pt>
                  <c:pt idx="5">
                    <c:v>Mercedes
20%</c:v>
                  </c:pt>
                  <c:pt idx="6">
                    <c:v>Red Bull Racing
15%</c:v>
                  </c:pt>
                  <c:pt idx="7">
                    <c:v>Haas
19%</c:v>
                  </c:pt>
                  <c:pt idx="8">
                    <c:v>Williams
19%</c:v>
                  </c:pt>
                  <c:pt idx="9">
                    <c:v>Racing Bulls
15%</c:v>
                  </c:pt>
                  <c:pt idx="10">
                    <c:v>Audi
12%</c:v>
                  </c:pt>
                  <c:pt idx="11">
                    <c:v>Cadillac
0%</c:v>
                  </c:pt>
                </c:lvl>
              </c:multiLvlStrCache>
            </c:multiLvlStrRef>
          </c:cat>
          <c:val>
            <c:numRef>
              <c:f>Sheet1!$D$2:$D$13</c:f>
              <c:numCache>
                <c:formatCode>General</c:formatCode>
                <c:ptCount val="12"/>
                <c:pt idx="0">
                  <c:v>1</c:v>
                </c:pt>
                <c:pt idx="1">
                  <c:v>0</c:v>
                </c:pt>
                <c:pt idx="2">
                  <c:v>1</c:v>
                </c:pt>
                <c:pt idx="3">
                  <c:v>0</c:v>
                </c:pt>
                <c:pt idx="4">
                  <c:v>0</c:v>
                </c:pt>
                <c:pt idx="5">
                  <c:v>0</c:v>
                </c:pt>
                <c:pt idx="6">
                  <c:v>0</c:v>
                </c:pt>
                <c:pt idx="7">
                  <c:v>1</c:v>
                </c:pt>
                <c:pt idx="8">
                  <c:v>0</c:v>
                </c:pt>
                <c:pt idx="9">
                  <c:v>0</c:v>
                </c:pt>
                <c:pt idx="10">
                  <c:v>0</c:v>
                </c:pt>
                <c:pt idx="11">
                  <c:v>0</c:v>
                </c:pt>
              </c:numCache>
            </c:numRef>
          </c:val>
        </c:ser>
        <c:dLbls>
          <c:numFmt formatCode="0;-0;;@"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00000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partnerships: 361 across 11 teams; 330 distinct brands; 16 brands partner more than one team (Pirelli supplies all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each team's partners in the three focus sectors. F1 shown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changes, the main new deals announced in 2026, exits, and deals already signed for 2027. New-deal count: 28 partnerships announced in 2026 (to 29 Oct) across the grid and F1; technology &amp; AI 9 (Microsoft, Rubrik, IFS, TWG AI, Core Scientific, ElevenLabs, Aleph, Adobe, RUCKUS), financial services 7 (Hedera, Stripe, Nexo, Libertex, eToro, Standard Chartered, Marsh).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current partner by tier. Bold = Wolters Kluwer focus sectors (financial services, professional services, life sciences &amp; health). Red = partnership announced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current partner by tier. Bold = Wolters Kluwer focus sectors (financial services, professional services, life sciences &amp; health). Red = partnership announced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current partner by tier. Bold = Wolters Kluwer focus sectors (financial services, professional services, life sciences &amp; health). Red = partnership announced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current partner by tier. Bold = Wolters Kluwer focus sectors (financial services, professional services, life sciences &amp; health). Red = partnership announced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and per-team sources, for any question on a count or a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00000"/>
        </a:solidFill>
      </p:bgPr>
    </p:bg>
    <p:spTree>
      <p:nvGrpSpPr>
        <p:cNvPr id="1" name=""/>
        <p:cNvGrpSpPr/>
        <p:nvPr/>
      </p:nvGrpSpPr>
      <p:grpSpPr>
        <a:xfrm>
          <a:off x="0" y="0"/>
          <a:ext cx="0" cy="0"/>
          <a:chOff x="0" y="0"/>
          <a:chExt cx="0" cy="0"/>
        </a:xfrm>
      </p:grpSpPr>
      <p:pic>
        <p:nvPicPr>
          <p:cNvPr id="2" name="Image 0" descr="F1 car, top view">    </p:cNvPr>
          <p:cNvPicPr>
            <a:picLocks noChangeAspect="1"/>
          </p:cNvPicPr>
          <p:nvPr/>
        </p:nvPicPr>
        <p:blipFill>
          <a:blip r:embed="rId1"/>
          <a:stretch>
            <a:fillRect/>
          </a:stretch>
        </p:blipFill>
        <p:spPr>
          <a:xfrm>
            <a:off x="-457200" y="-914400"/>
            <a:ext cx="14630400" cy="8229600"/>
          </a:xfrm>
          <a:prstGeom prst="rect">
            <a:avLst/>
          </a:prstGeom>
        </p:spPr>
      </p:pic>
      <p:pic>
        <p:nvPicPr>
          <p:cNvPr id="3" name="Image 1" descr="SPORTFIVE logo">    </p:cNvPr>
          <p:cNvPicPr>
            <a:picLocks noChangeAspect="1"/>
          </p:cNvPicPr>
          <p:nvPr/>
        </p:nvPicPr>
        <p:blipFill>
          <a:blip r:embed="rId2"/>
          <a:stretch>
            <a:fillRect/>
          </a:stretch>
        </p:blipFill>
        <p:spPr>
          <a:xfrm>
            <a:off x="566928" y="502920"/>
            <a:ext cx="2103120" cy="384048"/>
          </a:xfrm>
          <a:prstGeom prst="rect">
            <a:avLst/>
          </a:prstGeom>
        </p:spPr>
      </p:pic>
      <p:sp>
        <p:nvSpPr>
          <p:cNvPr id="4" name="Text 0"/>
          <p:cNvSpPr/>
          <p:nvPr>
            <p:ph idx="102" type="title" hasCustomPrompt="1"/>
          </p:nvPr>
        </p:nvSpPr>
        <p:spPr>
          <a:xfrm>
            <a:off x="566928" y="5074920"/>
            <a:ext cx="8229600" cy="685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Title</a:t>
            </a:r>
            <a:endParaRPr lang="en-US" sz="4000" dirty="0"/>
          </a:p>
        </p:txBody>
      </p:sp>
      <p:sp>
        <p:nvSpPr>
          <p:cNvPr id="5" name="Text 0"/>
          <p:cNvSpPr/>
          <p:nvPr>
            <p:ph idx="103" type="body" hasCustomPrompt="1"/>
          </p:nvPr>
        </p:nvSpPr>
        <p:spPr>
          <a:xfrm>
            <a:off x="566928" y="5760720"/>
            <a:ext cx="8229600" cy="365760"/>
          </a:xfrm>
          <a:prstGeom prst="rect">
            <a:avLst/>
          </a:prstGeom>
          <a:noFill/>
          <a:ln/>
        </p:spPr>
        <p:txBody>
          <a:bodyPr wrap="square" rtlCol="0"/>
          <a:lstStyle>
            <a:lvl1pPr indent="0" marL="0">
              <a:buNone/>
              <a:defRPr lang="en-US" sz="1600" b="1" spc="300" kern="0" dirty="0">
                <a:solidFill>
                  <a:schemeClr val="bg1"/>
                </a:solidFill>
              </a:defRPr>
            </a:lvl1pPr>
          </a:lstStyle>
          <a:p>
            <a:pPr indent="0" marL="0">
              <a:buNone/>
            </a:pPr>
            <a:r>
              <a:rPr lang="en-US" sz="1600" b="1" spc="300" kern="0" dirty="0">
                <a:solidFill>
                  <a:schemeClr val="bg1"/>
                </a:solidFill>
              </a:rPr>
              <a:t>Subtitle</a:t>
            </a:r>
            <a:endParaRPr lang="en-US" sz="1600" dirty="0"/>
          </a:p>
        </p:txBody>
      </p:sp>
      <p:sp>
        <p:nvSpPr>
          <p:cNvPr id="6" name="Text 0"/>
          <p:cNvSpPr/>
          <p:nvPr>
            <p:ph idx="104" type="body" hasCustomPrompt="1"/>
          </p:nvPr>
        </p:nvSpPr>
        <p:spPr>
          <a:xfrm>
            <a:off x="566928" y="6172200"/>
            <a:ext cx="8229600" cy="320040"/>
          </a:xfrm>
          <a:prstGeom prst="rect">
            <a:avLst/>
          </a:prstGeom>
          <a:noFill/>
          <a:ln/>
        </p:spPr>
        <p:txBody>
          <a:bodyPr wrap="square" rtlCol="0"/>
          <a:lstStyle>
            <a:lvl1pPr indent="0" marL="0">
              <a:buNone/>
              <a:defRPr lang="en-US" sz="1200" dirty="0">
                <a:solidFill>
                  <a:schemeClr val="accent6"/>
                </a:solidFill>
              </a:defRPr>
            </a:lvl1pPr>
          </a:lstStyle>
          <a:p>
            <a:pPr indent="0" marL="0">
              <a:buNone/>
            </a:pPr>
            <a:r>
              <a:rPr lang="en-US" sz="1200" dirty="0">
                <a:solidFill>
                  <a:schemeClr val="accent6"/>
                </a:solidFill>
              </a:rPr>
              <a:t>Date</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2191695" cy="41148"/>
          </a:xfrm>
          <a:prstGeom prst="rect">
            <a:avLst/>
          </a:prstGeom>
          <a:solidFill>
            <a:schemeClr val="accent1"/>
          </a:solidFill>
          <a:ln/>
        </p:spPr>
      </p:sp>
      <p:pic>
        <p:nvPicPr>
          <p:cNvPr id="3" name="Image 0" descr="Wolters Kluwer / SPORTFIVE">    </p:cNvPr>
          <p:cNvPicPr>
            <a:picLocks noChangeAspect="1"/>
          </p:cNvPicPr>
          <p:nvPr/>
        </p:nvPicPr>
        <p:blipFill>
          <a:blip r:embed="rId1"/>
          <a:stretch>
            <a:fillRect/>
          </a:stretch>
        </p:blipFill>
        <p:spPr>
          <a:xfrm>
            <a:off x="9619488" y="246888"/>
            <a:ext cx="2130552" cy="229514"/>
          </a:xfrm>
          <a:prstGeom prst="rect">
            <a:avLst/>
          </a:prstGeom>
        </p:spPr>
      </p:pic>
      <p:sp>
        <p:nvSpPr>
          <p:cNvPr id="4" name="Text 1"/>
          <p:cNvSpPr/>
          <p:nvPr>
            <p:ph idx="102" type="title" hasCustomPrompt="1"/>
          </p:nvPr>
        </p:nvSpPr>
        <p:spPr>
          <a:xfrm>
            <a:off x="438912" y="164592"/>
            <a:ext cx="8961120" cy="603504"/>
          </a:xfrm>
          <a:prstGeom prst="rect">
            <a:avLst/>
          </a:prstGeom>
          <a:noFill/>
          <a:ln/>
        </p:spPr>
        <p:txBody>
          <a:bodyPr wrap="square" rtlCol="0"/>
          <a:lstStyle>
            <a:lvl1pPr algn="l" indent="0" marL="0">
              <a:buNone/>
              <a:defRPr lang="en-US" sz="3600" b="1" dirty="0">
                <a:solidFill>
                  <a:schemeClr val="accent1"/>
                </a:solidFill>
              </a:defRPr>
            </a:lvl1pPr>
          </a:lstStyle>
          <a:p>
            <a:pPr algn="l" indent="0" marL="0">
              <a:buNone/>
            </a:pPr>
            <a:r>
              <a:rPr lang="en-US" sz="3600" b="1" dirty="0">
                <a:solidFill>
                  <a:schemeClr val="accent1"/>
                </a:solidFill>
              </a:rPr>
              <a:t>TITLE</a:t>
            </a:r>
            <a:endParaRPr lang="en-US" sz="3600" dirty="0"/>
          </a:p>
        </p:txBody>
      </p:sp>
      <p:sp>
        <p:nvSpPr>
          <p:cNvPr id="5" name="Text 1"/>
          <p:cNvSpPr/>
          <p:nvPr>
            <p:ph idx="103" type="body" hasCustomPrompt="1"/>
          </p:nvPr>
        </p:nvSpPr>
        <p:spPr>
          <a:xfrm>
            <a:off x="438912" y="804672"/>
            <a:ext cx="10515600" cy="329184"/>
          </a:xfrm>
          <a:prstGeom prst="rect">
            <a:avLst/>
          </a:prstGeom>
          <a:noFill/>
          <a:ln/>
        </p:spPr>
        <p:txBody>
          <a:bodyPr wrap="square" rtlCol="0"/>
          <a:lstStyle>
            <a:lvl1pPr indent="0" marL="0">
              <a:buNone/>
              <a:defRPr lang="en-US" sz="1500" b="1" i="1" spc="600" kern="0" dirty="0">
                <a:solidFill>
                  <a:schemeClr val="tx1"/>
                </a:solidFill>
              </a:defRPr>
            </a:lvl1pPr>
          </a:lstStyle>
          <a:p>
            <a:pPr indent="0" marL="0">
              <a:buNone/>
            </a:pPr>
            <a:r>
              <a:rPr lang="en-US" sz="1500" b="1" i="1" spc="600" kern="0" dirty="0">
                <a:solidFill>
                  <a:schemeClr val="tx1"/>
                </a:solidFill>
              </a:rPr>
              <a:t>SUBTITLE</a:t>
            </a:r>
            <a:endParaRPr lang="en-US" sz="1500" dirty="0"/>
          </a:p>
        </p:txBody>
      </p:sp>
      <p:sp>
        <p:nvSpPr>
          <p:cNvPr id="6" name="Shape 1"/>
          <p:cNvSpPr/>
          <p:nvPr/>
        </p:nvSpPr>
        <p:spPr>
          <a:xfrm>
            <a:off x="438912" y="1261872"/>
            <a:ext cx="429768" cy="32004"/>
          </a:xfrm>
          <a:prstGeom prst="rect">
            <a:avLst/>
          </a:prstGeom>
          <a:solidFill>
            <a:schemeClr val="accent1"/>
          </a:solidFill>
          <a:ln/>
        </p:spPr>
      </p:sp>
      <p:sp>
        <p:nvSpPr>
          <p:cNvPr id="7" name="Shape 2"/>
          <p:cNvSpPr/>
          <p:nvPr/>
        </p:nvSpPr>
        <p:spPr>
          <a:xfrm>
            <a:off x="868680" y="1277417"/>
            <a:ext cx="10835640" cy="0"/>
          </a:xfrm>
          <a:prstGeom prst="line">
            <a:avLst/>
          </a:prstGeom>
          <a:noFill/>
          <a:ln w="9525">
            <a:solidFill>
              <a:schemeClr val="accent6"/>
            </a:solidFill>
            <a:prstDash val="solid"/>
          </a:ln>
        </p:spPr>
      </p:sp>
      <p:sp>
        <p:nvSpPr>
          <p:cNvPr id="8" name="Shape 3"/>
          <p:cNvSpPr/>
          <p:nvPr/>
        </p:nvSpPr>
        <p:spPr>
          <a:xfrm>
            <a:off x="11704320" y="1257300"/>
            <a:ext cx="41148" cy="41148"/>
          </a:xfrm>
          <a:prstGeom prst="rect">
            <a:avLst/>
          </a:prstGeom>
          <a:solidFill>
            <a:schemeClr val="accent1"/>
          </a:solidFill>
          <a:ln/>
        </p:spPr>
      </p:sp>
      <p:sp>
        <p:nvSpPr>
          <p:cNvPr id="9" name="Text 4"/>
          <p:cNvSpPr/>
          <p:nvPr>
            <p:ph idx="107" type="body" hasCustomPrompt="1"/>
          </p:nvPr>
        </p:nvSpPr>
        <p:spPr>
          <a:xfrm>
            <a:off x="438912" y="6547104"/>
            <a:ext cx="10332720" cy="201168"/>
          </a:xfrm>
          <a:prstGeom prst="rect">
            <a:avLst/>
          </a:prstGeom>
          <a:noFill/>
          <a:ln/>
        </p:spPr>
        <p:txBody>
          <a:bodyPr wrap="square" rtlCol="0"/>
          <a:lstStyle>
            <a:lvl1pPr indent="0" marL="0">
              <a:buNone/>
              <a:defRPr lang="en-US" sz="750" dirty="0">
                <a:solidFill>
                  <a:schemeClr val="accent5"/>
                </a:solidFill>
              </a:defRPr>
            </a:lvl1pPr>
          </a:lstStyle>
          <a:p>
            <a:pPr indent="0" marL="0">
              <a:buNone/>
            </a:pPr>
            <a:r>
              <a:rPr lang="en-US" sz="750" dirty="0">
                <a:solidFill>
                  <a:schemeClr val="accent5"/>
                </a:solidFill>
              </a:rPr>
              <a:t>Source:</a:t>
            </a:r>
            <a:endParaRPr lang="en-US" sz="75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566928" y="5074920"/>
            <a:ext cx="8229600" cy="685800"/>
          </a:xfrm>
          <a:prstGeom prst="rect">
            <a:avLst/>
          </a:prstGeom>
          <a:noFill/>
          <a:ln/>
        </p:spPr>
        <p:txBody>
          <a:bodyPr wrap="square" lIns="0" tIns="0" rIns="0" bIns="0" rtlCol="0" anchor="t"/>
          <a:lstStyle/>
          <a:p>
            <a:pPr algn="l" indent="0" marL="0">
              <a:buNone/>
            </a:pPr>
            <a:r>
              <a:rPr lang="en-US" sz="4000" b="1" dirty="0">
                <a:solidFill>
                  <a:schemeClr val="bg1"/>
                </a:solidFill>
              </a:rPr>
              <a:t>F1 PARTNER LANDSCAPE</a:t>
            </a:r>
            <a:endParaRPr lang="en-US" sz="4000" dirty="0"/>
          </a:p>
        </p:txBody>
      </p:sp>
      <p:sp>
        <p:nvSpPr>
          <p:cNvPr id="3" name="Text 0"/>
          <p:cNvSpPr/>
          <p:nvPr>
            <p:ph idx="103" type="body" hasCustomPrompt="1"/>
          </p:nvPr>
        </p:nvSpPr>
        <p:spPr>
          <a:xfrm>
            <a:off x="566928" y="5760720"/>
            <a:ext cx="8229600" cy="365760"/>
          </a:xfrm>
          <a:prstGeom prst="rect">
            <a:avLst/>
          </a:prstGeom>
          <a:noFill/>
          <a:ln/>
        </p:spPr>
        <p:txBody>
          <a:bodyPr wrap="square" lIns="0" tIns="0" rIns="0" bIns="0" rtlCol="0" anchor="t"/>
          <a:lstStyle/>
          <a:p>
            <a:pPr indent="0" marL="0">
              <a:buNone/>
            </a:pPr>
            <a:r>
              <a:rPr lang="en-US" sz="1600" b="1" spc="300" kern="0" dirty="0">
                <a:solidFill>
                  <a:schemeClr val="bg1"/>
                </a:solidFill>
              </a:rPr>
              <a:t>CURRENT PARTNER ECOSYSTEM BY TEAM</a:t>
            </a:r>
            <a:endParaRPr lang="en-US" sz="1600" dirty="0"/>
          </a:p>
        </p:txBody>
      </p:sp>
      <p:sp>
        <p:nvSpPr>
          <p:cNvPr id="4" name="Text 0"/>
          <p:cNvSpPr/>
          <p:nvPr>
            <p:ph idx="104" type="body" hasCustomPrompt="1"/>
          </p:nvPr>
        </p:nvSpPr>
        <p:spPr>
          <a:xfrm>
            <a:off x="566928" y="6172200"/>
            <a:ext cx="8229600" cy="320040"/>
          </a:xfrm>
          <a:prstGeom prst="rect">
            <a:avLst/>
          </a:prstGeom>
          <a:noFill/>
          <a:ln/>
        </p:spPr>
        <p:txBody>
          <a:bodyPr wrap="square" lIns="0" tIns="0" rIns="0" bIns="0" rtlCol="0" anchor="t"/>
          <a:lstStyle/>
          <a:p>
            <a:pPr indent="0" marL="0">
              <a:buNone/>
            </a:pPr>
            <a:r>
              <a:rPr lang="en-US" sz="1200" dirty="0">
                <a:solidFill>
                  <a:schemeClr val="accent6"/>
                </a:solidFill>
              </a:rPr>
              <a:t>Prepared for Wolters Kluwer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38912" y="164592"/>
            <a:ext cx="8961120" cy="603504"/>
          </a:xfrm>
          <a:prstGeom prst="rect">
            <a:avLst/>
          </a:prstGeom>
          <a:noFill/>
          <a:ln/>
        </p:spPr>
        <p:txBody>
          <a:bodyPr wrap="square" lIns="0" tIns="0" rIns="0" bIns="0" rtlCol="0" anchor="ctr"/>
          <a:lstStyle/>
          <a:p>
            <a:pPr algn="l" indent="0" marL="0">
              <a:buNone/>
            </a:pPr>
            <a:r>
              <a:rPr lang="en-US" sz="3600" b="1" dirty="0">
                <a:solidFill>
                  <a:schemeClr val="accent1"/>
                </a:solidFill>
              </a:rPr>
              <a:t>PARTNER LANDSCAPE</a:t>
            </a:r>
            <a:endParaRPr lang="en-US" sz="3600" dirty="0"/>
          </a:p>
        </p:txBody>
      </p:sp>
      <p:sp>
        <p:nvSpPr>
          <p:cNvPr id="3" name="Text 1"/>
          <p:cNvSpPr/>
          <p:nvPr>
            <p:ph idx="103" type="body" hasCustomPrompt="1"/>
          </p:nvPr>
        </p:nvSpPr>
        <p:spPr>
          <a:xfrm>
            <a:off x="438912" y="804672"/>
            <a:ext cx="10515600" cy="329184"/>
          </a:xfrm>
          <a:prstGeom prst="rect">
            <a:avLst/>
          </a:prstGeom>
          <a:noFill/>
          <a:ln/>
        </p:spPr>
        <p:txBody>
          <a:bodyPr wrap="square" lIns="0" tIns="0" rIns="0" bIns="0" rtlCol="0" anchor="ctr"/>
          <a:lstStyle/>
          <a:p>
            <a:pPr indent="0" marL="0">
              <a:buNone/>
            </a:pPr>
            <a:r>
              <a:rPr lang="en-US" sz="1500" b="1" i="1" spc="600" kern="0" dirty="0">
                <a:solidFill>
                  <a:schemeClr val="tx1"/>
                </a:solidFill>
              </a:rPr>
              <a:t>WHICH TEAMS HAVE THE MOST PARTNERS</a:t>
            </a:r>
            <a:endParaRPr lang="en-US" sz="1500" dirty="0"/>
          </a:p>
        </p:txBody>
      </p:sp>
      <p:sp>
        <p:nvSpPr>
          <p:cNvPr id="4" name="Text 4"/>
          <p:cNvSpPr/>
          <p:nvPr>
            <p:ph idx="107" type="body" hasCustomPrompt="1"/>
          </p:nvPr>
        </p:nvSpPr>
        <p:spPr>
          <a:xfrm>
            <a:off x="438912" y="6547104"/>
            <a:ext cx="10332720" cy="201168"/>
          </a:xfrm>
          <a:prstGeom prst="rect">
            <a:avLst/>
          </a:prstGeom>
          <a:noFill/>
          <a:ln/>
        </p:spPr>
        <p:txBody>
          <a:bodyPr wrap="square" lIns="0" tIns="0" rIns="0" bIns="0" rtlCol="0" anchor="ctr"/>
          <a:lstStyle/>
          <a:p>
            <a:pPr indent="0" marL="0">
              <a:buNone/>
            </a:pPr>
            <a:r>
              <a:rPr lang="en-US" sz="750" dirty="0">
                <a:solidFill>
                  <a:schemeClr val="accent5"/>
                </a:solidFill>
              </a:rPr>
              <a:t>Source: official team partner pages (read 29 Oct 2026); f1salaries.com (30 Sep 2026); RTR Sports (6 Oct 2026). Counts include title, official and supplier partners as listed by each team.</a:t>
            </a:r>
            <a:endParaRPr lang="en-US" sz="750" dirty="0"/>
          </a:p>
        </p:txBody>
      </p:sp>
      <p:sp>
        <p:nvSpPr>
          <p:cNvPr id="6" name="Text 3"/>
          <p:cNvSpPr txBox="1"/>
          <p:nvPr/>
        </p:nvSpPr>
        <p:spPr>
          <a:xfrm>
            <a:off x="438912" y="1481328"/>
            <a:ext cx="7315200" cy="274320"/>
          </a:xfrm>
          <a:prstGeom prst="rect">
            <a:avLst/>
          </a:prstGeom>
          <a:noFill/>
          <a:ln/>
        </p:spPr>
        <p:txBody>
          <a:bodyPr wrap="square" lIns="0" tIns="0" rIns="0" bIns="0" rtlCol="0" anchor="ctr"/>
          <a:lstStyle/>
          <a:p>
            <a:pPr indent="0" marL="0">
              <a:buNone/>
            </a:pPr>
            <a:r>
              <a:rPr lang="en-US" sz="1200" b="1" dirty="0">
                <a:solidFill>
                  <a:schemeClr val="tx1"/>
                </a:solidFill>
              </a:rPr>
              <a:t>NUMBER OF PARTNERS PER TEAM (2026)</a:t>
            </a:r>
            <a:endParaRPr lang="en-US" sz="1200" dirty="0"/>
          </a:p>
        </p:txBody>
      </p:sp>
      <p:graphicFrame>
        <p:nvGraphicFramePr>
          <p:cNvPr id="7" name="Chart 0" descr=""/>
          <p:cNvGraphicFramePr/>
          <p:nvPr/>
        </p:nvGraphicFramePr>
        <p:xfrm>
          <a:off x="347472" y="1783080"/>
          <a:ext cx="7589520" cy="45262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1783080"/>
            <a:ext cx="3429000" cy="987552"/>
          </a:xfrm>
          <a:prstGeom prst="rect">
            <a:avLst/>
          </a:prstGeom>
          <a:solidFill>
            <a:schemeClr val="bg2"/>
          </a:solidFill>
          <a:ln w="12700">
            <a:solidFill>
              <a:schemeClr val="bg2"/>
            </a:solidFill>
            <a:prstDash val="solid"/>
          </a:ln>
        </p:spPr>
      </p:sp>
      <p:sp>
        <p:nvSpPr>
          <p:cNvPr id="9" name="Text 5"/>
          <p:cNvSpPr txBox="1"/>
          <p:nvPr/>
        </p:nvSpPr>
        <p:spPr>
          <a:xfrm>
            <a:off x="8549640" y="1856232"/>
            <a:ext cx="1417320" cy="822960"/>
          </a:xfrm>
          <a:prstGeom prst="rect">
            <a:avLst/>
          </a:prstGeom>
          <a:noFill/>
          <a:ln/>
        </p:spPr>
        <p:txBody>
          <a:bodyPr wrap="square" lIns="0" tIns="0" rIns="0" bIns="0" rtlCol="0" anchor="ctr"/>
          <a:lstStyle/>
          <a:p>
            <a:pPr indent="0" marL="0">
              <a:buNone/>
            </a:pPr>
            <a:r>
              <a:rPr lang="en-US" sz="3400" b="1" dirty="0">
                <a:solidFill>
                  <a:schemeClr val="accent1"/>
                </a:solidFill>
              </a:rPr>
              <a:t>361</a:t>
            </a:r>
            <a:endParaRPr lang="en-US" sz="3400" dirty="0"/>
          </a:p>
        </p:txBody>
      </p:sp>
      <p:sp>
        <p:nvSpPr>
          <p:cNvPr id="10" name="Text 6"/>
          <p:cNvSpPr txBox="1"/>
          <p:nvPr/>
        </p:nvSpPr>
        <p:spPr>
          <a:xfrm>
            <a:off x="9966960" y="1856232"/>
            <a:ext cx="1600200" cy="822960"/>
          </a:xfrm>
          <a:prstGeom prst="rect">
            <a:avLst/>
          </a:prstGeom>
          <a:noFill/>
          <a:ln/>
        </p:spPr>
        <p:txBody>
          <a:bodyPr wrap="square" lIns="0" tIns="0" rIns="0" bIns="0" rtlCol="0" anchor="ctr"/>
          <a:lstStyle/>
          <a:p>
            <a:pPr indent="0" marL="0">
              <a:buNone/>
            </a:pPr>
            <a:r>
              <a:rPr lang="en-US" sz="1200" dirty="0">
                <a:solidFill>
                  <a:schemeClr val="tx1"/>
                </a:solidFill>
              </a:rPr>
              <a:t>team partnerships across the 11 teams</a:t>
            </a:r>
            <a:endParaRPr lang="en-US" sz="1200" dirty="0"/>
          </a:p>
        </p:txBody>
      </p:sp>
      <p:sp>
        <p:nvSpPr>
          <p:cNvPr id="11" name="Shape 7"/>
          <p:cNvSpPr/>
          <p:nvPr/>
        </p:nvSpPr>
        <p:spPr>
          <a:xfrm>
            <a:off x="8321040" y="2898648"/>
            <a:ext cx="3429000" cy="987552"/>
          </a:xfrm>
          <a:prstGeom prst="rect">
            <a:avLst/>
          </a:prstGeom>
          <a:solidFill>
            <a:schemeClr val="bg2"/>
          </a:solidFill>
          <a:ln w="12700">
            <a:solidFill>
              <a:schemeClr val="bg2"/>
            </a:solidFill>
            <a:prstDash val="solid"/>
          </a:ln>
        </p:spPr>
      </p:sp>
      <p:sp>
        <p:nvSpPr>
          <p:cNvPr id="12" name="Text 8"/>
          <p:cNvSpPr txBox="1"/>
          <p:nvPr/>
        </p:nvSpPr>
        <p:spPr>
          <a:xfrm>
            <a:off x="8549640" y="2971800"/>
            <a:ext cx="1417320" cy="822960"/>
          </a:xfrm>
          <a:prstGeom prst="rect">
            <a:avLst/>
          </a:prstGeom>
          <a:noFill/>
          <a:ln/>
        </p:spPr>
        <p:txBody>
          <a:bodyPr wrap="square" lIns="0" tIns="0" rIns="0" bIns="0" rtlCol="0" anchor="ctr"/>
          <a:lstStyle/>
          <a:p>
            <a:pPr indent="0" marL="0">
              <a:buNone/>
            </a:pPr>
            <a:r>
              <a:rPr lang="en-US" sz="3400" b="1" dirty="0">
                <a:solidFill>
                  <a:schemeClr val="accent1"/>
                </a:solidFill>
              </a:rPr>
              <a:t>33</a:t>
            </a:r>
            <a:endParaRPr lang="en-US" sz="3400" dirty="0"/>
          </a:p>
        </p:txBody>
      </p:sp>
      <p:sp>
        <p:nvSpPr>
          <p:cNvPr id="13" name="Text 9"/>
          <p:cNvSpPr txBox="1"/>
          <p:nvPr/>
        </p:nvSpPr>
        <p:spPr>
          <a:xfrm>
            <a:off x="9966960" y="2971800"/>
            <a:ext cx="1600200" cy="822960"/>
          </a:xfrm>
          <a:prstGeom prst="rect">
            <a:avLst/>
          </a:prstGeom>
          <a:noFill/>
          <a:ln/>
        </p:spPr>
        <p:txBody>
          <a:bodyPr wrap="square" lIns="0" tIns="0" rIns="0" bIns="0" rtlCol="0" anchor="ctr"/>
          <a:lstStyle/>
          <a:p>
            <a:pPr indent="0" marL="0">
              <a:buNone/>
            </a:pPr>
            <a:r>
              <a:rPr lang="en-US" sz="1200" dirty="0">
                <a:solidFill>
                  <a:schemeClr val="tx1"/>
                </a:solidFill>
              </a:rPr>
              <a:t>partners per team on average</a:t>
            </a:r>
            <a:endParaRPr lang="en-US" sz="1200" dirty="0"/>
          </a:p>
        </p:txBody>
      </p:sp>
      <p:sp>
        <p:nvSpPr>
          <p:cNvPr id="14" name="Shape 10"/>
          <p:cNvSpPr/>
          <p:nvPr/>
        </p:nvSpPr>
        <p:spPr>
          <a:xfrm>
            <a:off x="8321040" y="4014216"/>
            <a:ext cx="3429000" cy="987552"/>
          </a:xfrm>
          <a:prstGeom prst="rect">
            <a:avLst/>
          </a:prstGeom>
          <a:solidFill>
            <a:schemeClr val="bg2"/>
          </a:solidFill>
          <a:ln w="12700">
            <a:solidFill>
              <a:schemeClr val="bg2"/>
            </a:solidFill>
            <a:prstDash val="solid"/>
          </a:ln>
        </p:spPr>
      </p:sp>
      <p:sp>
        <p:nvSpPr>
          <p:cNvPr id="15" name="Text 11"/>
          <p:cNvSpPr txBox="1"/>
          <p:nvPr/>
        </p:nvSpPr>
        <p:spPr>
          <a:xfrm>
            <a:off x="8549640" y="4087368"/>
            <a:ext cx="1417320" cy="822960"/>
          </a:xfrm>
          <a:prstGeom prst="rect">
            <a:avLst/>
          </a:prstGeom>
          <a:noFill/>
          <a:ln/>
        </p:spPr>
        <p:txBody>
          <a:bodyPr wrap="square" lIns="0" tIns="0" rIns="0" bIns="0" rtlCol="0" anchor="ctr"/>
          <a:lstStyle/>
          <a:p>
            <a:pPr indent="0" marL="0">
              <a:buNone/>
            </a:pPr>
            <a:r>
              <a:rPr lang="en-US" sz="3400" b="1" dirty="0">
                <a:solidFill>
                  <a:schemeClr val="accent1"/>
                </a:solidFill>
              </a:rPr>
              <a:t>36</a:t>
            </a:r>
            <a:endParaRPr lang="en-US" sz="3400" dirty="0"/>
          </a:p>
        </p:txBody>
      </p:sp>
      <p:sp>
        <p:nvSpPr>
          <p:cNvPr id="16" name="Text 12"/>
          <p:cNvSpPr txBox="1"/>
          <p:nvPr/>
        </p:nvSpPr>
        <p:spPr>
          <a:xfrm>
            <a:off x="9966960" y="4087368"/>
            <a:ext cx="1600200" cy="822960"/>
          </a:xfrm>
          <a:prstGeom prst="rect">
            <a:avLst/>
          </a:prstGeom>
          <a:noFill/>
          <a:ln/>
        </p:spPr>
        <p:txBody>
          <a:bodyPr wrap="square" lIns="0" tIns="0" rIns="0" bIns="0" rtlCol="0" anchor="ctr"/>
          <a:lstStyle/>
          <a:p>
            <a:pPr indent="0" marL="0">
              <a:buNone/>
            </a:pPr>
            <a:r>
              <a:rPr lang="en-US" sz="1200" dirty="0">
                <a:solidFill>
                  <a:schemeClr val="tx1"/>
                </a:solidFill>
              </a:rPr>
              <a:t>partners at F1 level (central organisation)</a:t>
            </a:r>
            <a:endParaRPr lang="en-US" sz="1200" dirty="0"/>
          </a:p>
        </p:txBody>
      </p:sp>
      <p:sp>
        <p:nvSpPr>
          <p:cNvPr id="17" name="Shape 13"/>
          <p:cNvSpPr/>
          <p:nvPr/>
        </p:nvSpPr>
        <p:spPr>
          <a:xfrm>
            <a:off x="8321040" y="5129784"/>
            <a:ext cx="3429000" cy="987552"/>
          </a:xfrm>
          <a:prstGeom prst="rect">
            <a:avLst/>
          </a:prstGeom>
          <a:solidFill>
            <a:schemeClr val="bg2"/>
          </a:solidFill>
          <a:ln w="12700">
            <a:solidFill>
              <a:schemeClr val="bg2"/>
            </a:solidFill>
            <a:prstDash val="solid"/>
          </a:ln>
        </p:spPr>
      </p:sp>
      <p:sp>
        <p:nvSpPr>
          <p:cNvPr id="18" name="Text 14"/>
          <p:cNvSpPr txBox="1"/>
          <p:nvPr/>
        </p:nvSpPr>
        <p:spPr>
          <a:xfrm>
            <a:off x="8549640" y="5202936"/>
            <a:ext cx="1417320" cy="822960"/>
          </a:xfrm>
          <a:prstGeom prst="rect">
            <a:avLst/>
          </a:prstGeom>
          <a:noFill/>
          <a:ln/>
        </p:spPr>
        <p:txBody>
          <a:bodyPr wrap="square" lIns="0" tIns="0" rIns="0" bIns="0" rtlCol="0" anchor="ctr"/>
          <a:lstStyle/>
          <a:p>
            <a:pPr indent="0" marL="0">
              <a:buNone/>
            </a:pPr>
            <a:r>
              <a:rPr lang="en-US" sz="3400" b="1" dirty="0">
                <a:solidFill>
                  <a:schemeClr val="accent1"/>
                </a:solidFill>
              </a:rPr>
              <a:t>330</a:t>
            </a:r>
            <a:endParaRPr lang="en-US" sz="3400" dirty="0"/>
          </a:p>
        </p:txBody>
      </p:sp>
      <p:sp>
        <p:nvSpPr>
          <p:cNvPr id="19" name="Text 15"/>
          <p:cNvSpPr txBox="1"/>
          <p:nvPr/>
        </p:nvSpPr>
        <p:spPr>
          <a:xfrm>
            <a:off x="9966960" y="5202936"/>
            <a:ext cx="1600200" cy="822960"/>
          </a:xfrm>
          <a:prstGeom prst="rect">
            <a:avLst/>
          </a:prstGeom>
          <a:noFill/>
          <a:ln/>
        </p:spPr>
        <p:txBody>
          <a:bodyPr wrap="square" lIns="0" tIns="0" rIns="0" bIns="0" rtlCol="0" anchor="ctr"/>
          <a:lstStyle/>
          <a:p>
            <a:pPr indent="0" marL="0">
              <a:buNone/>
            </a:pPr>
            <a:r>
              <a:rPr lang="en-US" sz="1200" dirty="0">
                <a:solidFill>
                  <a:schemeClr val="tx1"/>
                </a:solidFill>
              </a:rPr>
              <a:t>distinct brands; 16 partner more than one team</a:t>
            </a:r>
            <a:endParaRPr lang="en-US" sz="1200" dirty="0"/>
          </a:p>
        </p:txBody>
      </p:sp>
      <p:sp>
        <p:nvSpPr>
          <p:cNvPr id="20" name="Text 16"/>
          <p:cNvSpPr txBox="1"/>
          <p:nvPr/>
        </p:nvSpPr>
        <p:spPr>
          <a:xfrm>
            <a:off x="438912" y="6236208"/>
            <a:ext cx="10972800" cy="274320"/>
          </a:xfrm>
          <a:prstGeom prst="rect">
            <a:avLst/>
          </a:prstGeom>
          <a:noFill/>
          <a:ln/>
        </p:spPr>
        <p:txBody>
          <a:bodyPr wrap="square" lIns="0" tIns="0" rIns="0" bIns="0" rtlCol="0" anchor="ctr"/>
          <a:lstStyle/>
          <a:p>
            <a:pPr indent="0" marL="0">
              <a:buNone/>
            </a:pPr>
            <a:r>
              <a:rPr lang="en-US" sz="1100" b="1" dirty="0">
                <a:solidFill>
                  <a:schemeClr val="tx1"/>
                </a:solidFill>
              </a:rPr>
              <a:t>McLaren (52), Alpine (48) and Ferrari (41) </a:t>
            </a:r>
            <a:pPr indent="0" marL="0">
              <a:buNone/>
            </a:pPr>
            <a:r>
              <a:rPr lang="en-US" sz="1100" dirty="0">
                <a:solidFill>
                  <a:schemeClr val="tx1"/>
                </a:solidFill>
              </a:rPr>
              <a:t>run the largest portfolios. New entrant Cadillac has the fewest (11).</a:t>
            </a:r>
            <a:endParaRPr lang="en-US" sz="110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38912" y="164592"/>
            <a:ext cx="8961120" cy="603504"/>
          </a:xfrm>
          <a:prstGeom prst="rect">
            <a:avLst/>
          </a:prstGeom>
          <a:noFill/>
          <a:ln/>
        </p:spPr>
        <p:txBody>
          <a:bodyPr wrap="square" lIns="0" tIns="0" rIns="0" bIns="0" rtlCol="0" anchor="ctr"/>
          <a:lstStyle/>
          <a:p>
            <a:pPr algn="l" indent="0" marL="0">
              <a:buNone/>
            </a:pPr>
            <a:r>
              <a:rPr lang="en-US" sz="3600" b="1" dirty="0">
                <a:solidFill>
                  <a:schemeClr val="accent1"/>
                </a:solidFill>
              </a:rPr>
              <a:t>RELEVANT PARTNER MAPPING</a:t>
            </a:r>
            <a:endParaRPr lang="en-US" sz="3600" dirty="0"/>
          </a:p>
        </p:txBody>
      </p:sp>
      <p:sp>
        <p:nvSpPr>
          <p:cNvPr id="3" name="Text 1"/>
          <p:cNvSpPr/>
          <p:nvPr>
            <p:ph idx="103" type="body" hasCustomPrompt="1"/>
          </p:nvPr>
        </p:nvSpPr>
        <p:spPr>
          <a:xfrm>
            <a:off x="438912" y="804672"/>
            <a:ext cx="10515600" cy="329184"/>
          </a:xfrm>
          <a:prstGeom prst="rect">
            <a:avLst/>
          </a:prstGeom>
          <a:noFill/>
          <a:ln/>
        </p:spPr>
        <p:txBody>
          <a:bodyPr wrap="square" lIns="0" tIns="0" rIns="0" bIns="0" rtlCol="0" anchor="ctr"/>
          <a:lstStyle/>
          <a:p>
            <a:pPr indent="0" marL="0">
              <a:buNone/>
            </a:pPr>
            <a:r>
              <a:rPr lang="en-US" sz="1500" b="1" i="1" spc="600" kern="0" dirty="0">
                <a:solidFill>
                  <a:schemeClr val="tx1"/>
                </a:solidFill>
              </a:rPr>
              <a:t>TEAM PARTNERS IN WOLTERS KLUWER FOCUS SECTORS</a:t>
            </a:r>
            <a:endParaRPr lang="en-US" sz="1500" dirty="0"/>
          </a:p>
        </p:txBody>
      </p:sp>
      <p:sp>
        <p:nvSpPr>
          <p:cNvPr id="4" name="Text 4"/>
          <p:cNvSpPr/>
          <p:nvPr>
            <p:ph idx="107" type="body" hasCustomPrompt="1"/>
          </p:nvPr>
        </p:nvSpPr>
        <p:spPr>
          <a:xfrm>
            <a:off x="438912" y="6547104"/>
            <a:ext cx="10332720" cy="201168"/>
          </a:xfrm>
          <a:prstGeom prst="rect">
            <a:avLst/>
          </a:prstGeom>
          <a:noFill/>
          <a:ln/>
        </p:spPr>
        <p:txBody>
          <a:bodyPr wrap="square" lIns="0" tIns="0" rIns="0" bIns="0" rtlCol="0" anchor="ctr"/>
          <a:lstStyle/>
          <a:p>
            <a:pPr indent="0" marL="0">
              <a:buNone/>
            </a:pPr>
            <a:r>
              <a:rPr lang="en-US" sz="750" dirty="0">
                <a:solidFill>
                  <a:schemeClr val="accent5"/>
                </a:solidFill>
              </a:rPr>
              <a:t>Source: as previous slide. Sector classification by SPORTFIVE: financial services = banking, payments, trading, crypto, insurance, asset management; professional services = consulting, legal, HR and learning; life sciences &amp; health = pharma, healthcare providers, health services.</a:t>
            </a:r>
            <a:endParaRPr lang="en-US" sz="750" dirty="0"/>
          </a:p>
        </p:txBody>
      </p:sp>
      <p:sp>
        <p:nvSpPr>
          <p:cNvPr id="6" name="Text 3"/>
          <p:cNvSpPr txBox="1"/>
          <p:nvPr/>
        </p:nvSpPr>
        <p:spPr>
          <a:xfrm>
            <a:off x="438912" y="1481328"/>
            <a:ext cx="8229600" cy="274320"/>
          </a:xfrm>
          <a:prstGeom prst="rect">
            <a:avLst/>
          </a:prstGeom>
          <a:noFill/>
          <a:ln/>
        </p:spPr>
        <p:txBody>
          <a:bodyPr wrap="square" lIns="0" tIns="0" rIns="0" bIns="0" rtlCol="0" anchor="ctr"/>
          <a:lstStyle/>
          <a:p>
            <a:pPr indent="0" marL="0">
              <a:buNone/>
            </a:pPr>
            <a:r>
              <a:rPr lang="en-US" sz="1200" b="1" dirty="0">
                <a:solidFill>
                  <a:schemeClr val="tx1"/>
                </a:solidFill>
              </a:rPr>
              <a:t>NUMBER OF FOCUS-SECTOR PARTNERS (AND SHARE OF ALL PARTNERS)</a:t>
            </a:r>
            <a:endParaRPr lang="en-US" sz="1200" dirty="0"/>
          </a:p>
        </p:txBody>
      </p:sp>
      <p:graphicFrame>
        <p:nvGraphicFramePr>
          <p:cNvPr id="7" name="Chart 0" descr=""/>
          <p:cNvGraphicFramePr/>
          <p:nvPr/>
        </p:nvGraphicFramePr>
        <p:xfrm>
          <a:off x="347472" y="1783080"/>
          <a:ext cx="8138160" cy="443484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641080" y="1783080"/>
            <a:ext cx="3108960" cy="1353312"/>
          </a:xfrm>
          <a:prstGeom prst="rect">
            <a:avLst/>
          </a:prstGeom>
          <a:solidFill>
            <a:schemeClr val="bg2"/>
          </a:solidFill>
          <a:ln w="12700">
            <a:solidFill>
              <a:schemeClr val="bg2"/>
            </a:solidFill>
            <a:prstDash val="solid"/>
          </a:ln>
        </p:spPr>
      </p:sp>
      <p:sp>
        <p:nvSpPr>
          <p:cNvPr id="9" name="Text 5"/>
          <p:cNvSpPr txBox="1"/>
          <p:nvPr/>
        </p:nvSpPr>
        <p:spPr>
          <a:xfrm>
            <a:off x="8842248" y="1856232"/>
            <a:ext cx="2706624" cy="502920"/>
          </a:xfrm>
          <a:prstGeom prst="rect">
            <a:avLst/>
          </a:prstGeom>
          <a:noFill/>
          <a:ln/>
        </p:spPr>
        <p:txBody>
          <a:bodyPr wrap="square" lIns="0" tIns="0" rIns="0" bIns="0" rtlCol="0" anchor="ctr"/>
          <a:lstStyle/>
          <a:p>
            <a:pPr indent="0" marL="0">
              <a:buNone/>
            </a:pPr>
            <a:r>
              <a:rPr lang="en-US" sz="3000" b="1" dirty="0">
                <a:solidFill>
                  <a:srgbClr val="C00000"/>
                </a:solidFill>
              </a:rPr>
              <a:t>40  </a:t>
            </a:r>
            <a:pPr indent="0" marL="0">
              <a:buNone/>
            </a:pPr>
            <a:r>
              <a:rPr lang="en-US" sz="1100" b="1" dirty="0">
                <a:solidFill>
                  <a:srgbClr val="000000"/>
                </a:solidFill>
              </a:rPr>
              <a:t>FINANCIAL SERVICES</a:t>
            </a:r>
            <a:endParaRPr lang="en-US" sz="3000" dirty="0"/>
          </a:p>
        </p:txBody>
      </p:sp>
      <p:sp>
        <p:nvSpPr>
          <p:cNvPr id="10" name="Text 6"/>
          <p:cNvSpPr txBox="1"/>
          <p:nvPr/>
        </p:nvSpPr>
        <p:spPr>
          <a:xfrm>
            <a:off x="8842248" y="2359152"/>
            <a:ext cx="2706624" cy="713232"/>
          </a:xfrm>
          <a:prstGeom prst="rect">
            <a:avLst/>
          </a:prstGeom>
          <a:noFill/>
          <a:ln/>
        </p:spPr>
        <p:txBody>
          <a:bodyPr wrap="square" lIns="0" tIns="0" rIns="0" bIns="0" rtlCol="0" anchor="t"/>
          <a:lstStyle/>
          <a:p>
            <a:pPr indent="0" marL="0">
              <a:buNone/>
            </a:pPr>
            <a:r>
              <a:rPr lang="en-US" sz="1050" dirty="0">
                <a:solidFill>
                  <a:schemeClr val="tx1"/>
                </a:solidFill>
              </a:rPr>
              <a:t>Banks, payments, trading and crypto: the largest focus sector on the grid (e.g. Mastercard, UBS, Barclays, Goldman Sachs).</a:t>
            </a:r>
            <a:endParaRPr lang="en-US" sz="1050" dirty="0"/>
          </a:p>
        </p:txBody>
      </p:sp>
      <p:sp>
        <p:nvSpPr>
          <p:cNvPr id="11" name="Shape 7"/>
          <p:cNvSpPr/>
          <p:nvPr/>
        </p:nvSpPr>
        <p:spPr>
          <a:xfrm>
            <a:off x="8641080" y="3264408"/>
            <a:ext cx="3108960" cy="1353312"/>
          </a:xfrm>
          <a:prstGeom prst="rect">
            <a:avLst/>
          </a:prstGeom>
          <a:solidFill>
            <a:schemeClr val="bg2"/>
          </a:solidFill>
          <a:ln w="12700">
            <a:solidFill>
              <a:schemeClr val="bg2"/>
            </a:solidFill>
            <a:prstDash val="solid"/>
          </a:ln>
        </p:spPr>
      </p:sp>
      <p:sp>
        <p:nvSpPr>
          <p:cNvPr id="12" name="Text 8"/>
          <p:cNvSpPr txBox="1"/>
          <p:nvPr/>
        </p:nvSpPr>
        <p:spPr>
          <a:xfrm>
            <a:off x="8842248" y="3337560"/>
            <a:ext cx="2706624" cy="502920"/>
          </a:xfrm>
          <a:prstGeom prst="rect">
            <a:avLst/>
          </a:prstGeom>
          <a:noFill/>
          <a:ln/>
        </p:spPr>
        <p:txBody>
          <a:bodyPr wrap="square" lIns="0" tIns="0" rIns="0" bIns="0" rtlCol="0" anchor="ctr"/>
          <a:lstStyle/>
          <a:p>
            <a:pPr indent="0" marL="0">
              <a:buNone/>
            </a:pPr>
            <a:r>
              <a:rPr lang="en-US" sz="3000" b="1" dirty="0">
                <a:solidFill>
                  <a:srgbClr val="C00000"/>
                </a:solidFill>
              </a:rPr>
              <a:t>15  </a:t>
            </a:r>
            <a:pPr indent="0" marL="0">
              <a:buNone/>
            </a:pPr>
            <a:r>
              <a:rPr lang="en-US" sz="1100" b="1" dirty="0">
                <a:solidFill>
                  <a:srgbClr val="000000"/>
                </a:solidFill>
              </a:rPr>
              <a:t>PROFESSIONAL SERVICES</a:t>
            </a:r>
            <a:endParaRPr lang="en-US" sz="3000" dirty="0"/>
          </a:p>
        </p:txBody>
      </p:sp>
      <p:sp>
        <p:nvSpPr>
          <p:cNvPr id="13" name="Text 9"/>
          <p:cNvSpPr txBox="1"/>
          <p:nvPr/>
        </p:nvSpPr>
        <p:spPr>
          <a:xfrm>
            <a:off x="8842248" y="3840480"/>
            <a:ext cx="2706624" cy="713232"/>
          </a:xfrm>
          <a:prstGeom prst="rect">
            <a:avLst/>
          </a:prstGeom>
          <a:noFill/>
          <a:ln/>
        </p:spPr>
        <p:txBody>
          <a:bodyPr wrap="square" lIns="0" tIns="0" rIns="0" bIns="0" rtlCol="0" anchor="t"/>
          <a:lstStyle/>
          <a:p>
            <a:pPr indent="0" marL="0">
              <a:buNone/>
            </a:pPr>
            <a:r>
              <a:rPr lang="en-US" sz="1050" dirty="0">
                <a:solidFill>
                  <a:schemeClr val="tx1"/>
                </a:solidFill>
              </a:rPr>
              <a:t>Consulting, legal, HR and learning (e.g. Deloitte, Ashurst, Morrison Foerster, Randstad, Workday).</a:t>
            </a:r>
            <a:endParaRPr lang="en-US" sz="1050" dirty="0"/>
          </a:p>
        </p:txBody>
      </p:sp>
      <p:sp>
        <p:nvSpPr>
          <p:cNvPr id="14" name="Shape 10"/>
          <p:cNvSpPr/>
          <p:nvPr/>
        </p:nvSpPr>
        <p:spPr>
          <a:xfrm>
            <a:off x="8641080" y="4745736"/>
            <a:ext cx="3108960" cy="1353312"/>
          </a:xfrm>
          <a:prstGeom prst="rect">
            <a:avLst/>
          </a:prstGeom>
          <a:solidFill>
            <a:schemeClr val="bg2"/>
          </a:solidFill>
          <a:ln w="12700">
            <a:solidFill>
              <a:schemeClr val="bg2"/>
            </a:solidFill>
            <a:prstDash val="solid"/>
          </a:ln>
        </p:spPr>
      </p:sp>
      <p:sp>
        <p:nvSpPr>
          <p:cNvPr id="15" name="Text 11"/>
          <p:cNvSpPr txBox="1"/>
          <p:nvPr/>
        </p:nvSpPr>
        <p:spPr>
          <a:xfrm>
            <a:off x="8842248" y="4818888"/>
            <a:ext cx="2706624" cy="502920"/>
          </a:xfrm>
          <a:prstGeom prst="rect">
            <a:avLst/>
          </a:prstGeom>
          <a:noFill/>
          <a:ln/>
        </p:spPr>
        <p:txBody>
          <a:bodyPr wrap="square" lIns="0" tIns="0" rIns="0" bIns="0" rtlCol="0" anchor="ctr"/>
          <a:lstStyle/>
          <a:p>
            <a:pPr indent="0" marL="0">
              <a:buNone/>
            </a:pPr>
            <a:r>
              <a:rPr lang="en-US" sz="3000" b="1" dirty="0">
                <a:solidFill>
                  <a:srgbClr val="C00000"/>
                </a:solidFill>
              </a:rPr>
              <a:t>3  </a:t>
            </a:r>
            <a:pPr indent="0" marL="0">
              <a:buNone/>
            </a:pPr>
            <a:r>
              <a:rPr lang="en-US" sz="1100" b="1" dirty="0">
                <a:solidFill>
                  <a:srgbClr val="000000"/>
                </a:solidFill>
              </a:rPr>
              <a:t>LIFE SCIENCES &amp; HEALTH</a:t>
            </a:r>
            <a:endParaRPr lang="en-US" sz="3000" dirty="0"/>
          </a:p>
        </p:txBody>
      </p:sp>
      <p:sp>
        <p:nvSpPr>
          <p:cNvPr id="16" name="Text 12"/>
          <p:cNvSpPr txBox="1"/>
          <p:nvPr/>
        </p:nvSpPr>
        <p:spPr>
          <a:xfrm>
            <a:off x="8842248" y="5321808"/>
            <a:ext cx="2706624" cy="713232"/>
          </a:xfrm>
          <a:prstGeom prst="rect">
            <a:avLst/>
          </a:prstGeom>
          <a:noFill/>
          <a:ln/>
        </p:spPr>
        <p:txBody>
          <a:bodyPr wrap="square" lIns="0" tIns="0" rIns="0" bIns="0" rtlCol="0" anchor="t"/>
          <a:lstStyle/>
          <a:p>
            <a:pPr indent="0" marL="0">
              <a:buNone/>
            </a:pPr>
            <a:r>
              <a:rPr lang="en-US" sz="1050" dirty="0">
                <a:solidFill>
                  <a:schemeClr val="tx1"/>
                </a:solidFill>
              </a:rPr>
              <a:t>AbbVie (McLaren, new Oct 2026), UChicago Medicine (Haas), JAAQ (Alpine).</a:t>
            </a:r>
            <a:endParaRPr lang="en-US" sz="105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38912" y="164592"/>
            <a:ext cx="8961120" cy="603504"/>
          </a:xfrm>
          <a:prstGeom prst="rect">
            <a:avLst/>
          </a:prstGeom>
          <a:noFill/>
          <a:ln/>
        </p:spPr>
        <p:txBody>
          <a:bodyPr wrap="square" lIns="0" tIns="0" rIns="0" bIns="0" rtlCol="0" anchor="ctr"/>
          <a:lstStyle/>
          <a:p>
            <a:pPr algn="l" indent="0" marL="0">
              <a:buNone/>
            </a:pPr>
            <a:r>
              <a:rPr lang="en-US" sz="3600" b="1" dirty="0">
                <a:solidFill>
                  <a:schemeClr val="accent1"/>
                </a:solidFill>
              </a:rPr>
              <a:t>WHAT'S CHANGED</a:t>
            </a:r>
            <a:endParaRPr lang="en-US" sz="3600" dirty="0"/>
          </a:p>
        </p:txBody>
      </p:sp>
      <p:sp>
        <p:nvSpPr>
          <p:cNvPr id="3" name="Text 1"/>
          <p:cNvSpPr/>
          <p:nvPr>
            <p:ph idx="103" type="body" hasCustomPrompt="1"/>
          </p:nvPr>
        </p:nvSpPr>
        <p:spPr>
          <a:xfrm>
            <a:off x="438912" y="804672"/>
            <a:ext cx="10515600" cy="329184"/>
          </a:xfrm>
          <a:prstGeom prst="rect">
            <a:avLst/>
          </a:prstGeom>
          <a:noFill/>
          <a:ln/>
        </p:spPr>
        <p:txBody>
          <a:bodyPr wrap="square" lIns="0" tIns="0" rIns="0" bIns="0" rtlCol="0" anchor="ctr"/>
          <a:lstStyle/>
          <a:p>
            <a:pPr indent="0" marL="0">
              <a:buNone/>
            </a:pPr>
            <a:r>
              <a:rPr lang="en-US" sz="1500" b="1" i="1" spc="600" kern="0" dirty="0">
                <a:solidFill>
                  <a:schemeClr val="tx1"/>
                </a:solidFill>
              </a:rPr>
              <a:t>THE 2026 PARTNER LANDSCAPE AT A GLANCE</a:t>
            </a:r>
            <a:endParaRPr lang="en-US" sz="1500" dirty="0"/>
          </a:p>
        </p:txBody>
      </p:sp>
      <p:sp>
        <p:nvSpPr>
          <p:cNvPr id="4" name="Text 4"/>
          <p:cNvSpPr/>
          <p:nvPr>
            <p:ph idx="107" type="body" hasCustomPrompt="1"/>
          </p:nvPr>
        </p:nvSpPr>
        <p:spPr>
          <a:xfrm>
            <a:off x="438912" y="6547104"/>
            <a:ext cx="10332720" cy="201168"/>
          </a:xfrm>
          <a:prstGeom prst="rect">
            <a:avLst/>
          </a:prstGeom>
          <a:noFill/>
          <a:ln/>
        </p:spPr>
        <p:txBody>
          <a:bodyPr wrap="square" lIns="0" tIns="0" rIns="0" bIns="0" rtlCol="0" anchor="ctr"/>
          <a:lstStyle/>
          <a:p>
            <a:pPr indent="0" marL="0">
              <a:buNone/>
            </a:pPr>
            <a:r>
              <a:rPr lang="en-US" sz="750" dirty="0">
                <a:solidFill>
                  <a:schemeClr val="accent5"/>
                </a:solidFill>
              </a:rPr>
              <a:t>Source: team and partner announcements; Sportcal, Insider Sport and The Race (Oct 2026); GPblog and GrandPrix.com (Dec 2025 to Feb 2026); f1salaries.com; RTR Sports.</a:t>
            </a:r>
            <a:endParaRPr lang="en-US" sz="750" dirty="0"/>
          </a:p>
        </p:txBody>
      </p:sp>
      <p:sp>
        <p:nvSpPr>
          <p:cNvPr id="6" name="Shape 3"/>
          <p:cNvSpPr/>
          <p:nvPr/>
        </p:nvSpPr>
        <p:spPr>
          <a:xfrm>
            <a:off x="438912" y="5870448"/>
            <a:ext cx="11311128" cy="530352"/>
          </a:xfrm>
          <a:prstGeom prst="rect">
            <a:avLst/>
          </a:prstGeom>
          <a:solidFill>
            <a:schemeClr val="accent1"/>
          </a:solidFill>
          <a:ln w="12700">
            <a:solidFill>
              <a:schemeClr val="accent1"/>
            </a:solidFill>
            <a:prstDash val="solid"/>
          </a:ln>
        </p:spPr>
      </p:sp>
      <p:sp>
        <p:nvSpPr>
          <p:cNvPr id="7" name="Text 4"/>
          <p:cNvSpPr txBox="1"/>
          <p:nvPr/>
        </p:nvSpPr>
        <p:spPr>
          <a:xfrm>
            <a:off x="667512" y="5870448"/>
            <a:ext cx="10853928" cy="530352"/>
          </a:xfrm>
          <a:prstGeom prst="rect">
            <a:avLst/>
          </a:prstGeom>
          <a:noFill/>
          <a:ln/>
        </p:spPr>
        <p:txBody>
          <a:bodyPr wrap="square" lIns="0" tIns="0" rIns="0" bIns="0" rtlCol="0" anchor="ctr"/>
          <a:lstStyle/>
          <a:p>
            <a:pPr indent="0" marL="0">
              <a:buNone/>
            </a:pPr>
            <a:r>
              <a:rPr lang="en-US" sz="1400" b="1" dirty="0">
                <a:solidFill>
                  <a:schemeClr val="bg1"/>
                </a:solidFill>
              </a:rPr>
              <a:t>28 new partnerships announced in 2026: </a:t>
            </a:r>
            <a:pPr indent="0" marL="0">
              <a:buNone/>
            </a:pPr>
            <a:r>
              <a:rPr lang="en-US" sz="1400" dirty="0">
                <a:solidFill>
                  <a:schemeClr val="bg1"/>
                </a:solidFill>
              </a:rPr>
              <a:t>technology &amp; AI (9) and financial services (7) account for more than half.</a:t>
            </a:r>
            <a:endParaRPr lang="en-US" sz="1400" dirty="0"/>
          </a:p>
        </p:txBody>
      </p:sp>
      <p:sp>
        <p:nvSpPr>
          <p:cNvPr id="8" name="Shape 5"/>
          <p:cNvSpPr/>
          <p:nvPr/>
        </p:nvSpPr>
        <p:spPr>
          <a:xfrm>
            <a:off x="438912" y="1554480"/>
            <a:ext cx="3587496" cy="4160520"/>
          </a:xfrm>
          <a:prstGeom prst="rect">
            <a:avLst/>
          </a:prstGeom>
          <a:solidFill>
            <a:schemeClr val="bg2"/>
          </a:solidFill>
          <a:ln w="12700">
            <a:solidFill>
              <a:schemeClr val="bg2"/>
            </a:solidFill>
            <a:prstDash val="solid"/>
          </a:ln>
        </p:spPr>
      </p:sp>
      <p:sp>
        <p:nvSpPr>
          <p:cNvPr id="9" name="Text 6"/>
          <p:cNvSpPr txBox="1"/>
          <p:nvPr/>
        </p:nvSpPr>
        <p:spPr>
          <a:xfrm>
            <a:off x="667512" y="1737360"/>
            <a:ext cx="3130296" cy="292608"/>
          </a:xfrm>
          <a:prstGeom prst="rect">
            <a:avLst/>
          </a:prstGeom>
          <a:noFill/>
          <a:ln/>
        </p:spPr>
        <p:txBody>
          <a:bodyPr wrap="square" lIns="0" tIns="0" rIns="0" bIns="0" rtlCol="0" anchor="ctr"/>
          <a:lstStyle/>
          <a:p>
            <a:pPr indent="0" marL="0">
              <a:buNone/>
            </a:pPr>
            <a:r>
              <a:rPr lang="en-US" sz="1300" b="1" spc="100" kern="0" dirty="0">
                <a:solidFill>
                  <a:schemeClr val="accent1"/>
                </a:solidFill>
              </a:rPr>
              <a:t>GRID &amp; TITLE CHANGES</a:t>
            </a:r>
            <a:endParaRPr lang="en-US" sz="1300" dirty="0"/>
          </a:p>
        </p:txBody>
      </p:sp>
      <p:sp>
        <p:nvSpPr>
          <p:cNvPr id="10" name="Text 7"/>
          <p:cNvSpPr txBox="1"/>
          <p:nvPr/>
        </p:nvSpPr>
        <p:spPr>
          <a:xfrm>
            <a:off x="667512" y="2148840"/>
            <a:ext cx="3130296" cy="3429000"/>
          </a:xfrm>
          <a:prstGeom prst="rect">
            <a:avLst/>
          </a:prstGeom>
          <a:noFill/>
          <a:ln/>
        </p:spPr>
        <p:txBody>
          <a:bodyPr wrap="square" lIns="0" tIns="0" rIns="0" bIns="0" rtlCol="0" anchor="t"/>
          <a:lstStyle/>
          <a:p>
            <a:pPr marL="342900" indent="-342900">
              <a:spcAft>
                <a:spcPts val="900"/>
              </a:spcAft>
              <a:buSzPct val="100000"/>
              <a:buChar char="■"/>
            </a:pPr>
            <a:r>
              <a:rPr lang="en-US" sz="1250" b="1" dirty="0">
                <a:solidFill>
                  <a:srgbClr val="000000"/>
                </a:solidFill>
              </a:rPr>
              <a:t>Two new teams: </a:t>
            </a:r>
            <a:pPr indent="0" marL="0">
              <a:spcAft>
                <a:spcPts val="900"/>
              </a:spcAft>
              <a:buNone/>
            </a:pPr>
            <a:r>
              <a:rPr lang="en-US" sz="1250" dirty="0">
                <a:solidFill>
                  <a:srgbClr val="000000"/>
                </a:solidFill>
              </a:rPr>
              <a:t>Audi (formerly Sauber; Revolut title partner) and Cadillac, the 11th team (no title partner).</a:t>
            </a:r>
            <a:endParaRPr lang="en-US" sz="1250" dirty="0"/>
          </a:p>
          <a:p>
            <a:pPr marL="342900" indent="-342900">
              <a:spcAft>
                <a:spcPts val="900"/>
              </a:spcAft>
              <a:buSzPct val="100000"/>
              <a:buChar char="■"/>
            </a:pPr>
            <a:r>
              <a:rPr lang="en-US" sz="1250" b="1" dirty="0">
                <a:solidFill>
                  <a:srgbClr val="000000"/>
                </a:solidFill>
              </a:rPr>
              <a:t>New naming partners: </a:t>
            </a:r>
            <a:pPr indent="0" marL="0">
              <a:spcAft>
                <a:spcPts val="900"/>
              </a:spcAft>
              <a:buNone/>
            </a:pPr>
            <a:r>
              <a:rPr lang="en-US" sz="1250" dirty="0">
                <a:solidFill>
                  <a:srgbClr val="000000"/>
                </a:solidFill>
              </a:rPr>
              <a:t>Mastercard at McLaren; Toyota Gazoo Racing at Haas (replacing MoneyGram).</a:t>
            </a:r>
            <a:endParaRPr lang="en-US" sz="1250" dirty="0"/>
          </a:p>
          <a:p>
            <a:pPr marL="342900" indent="-342900">
              <a:spcAft>
                <a:spcPts val="900"/>
              </a:spcAft>
              <a:buSzPct val="100000"/>
              <a:buChar char="■"/>
            </a:pPr>
            <a:r>
              <a:rPr lang="en-US" sz="1250" b="1" dirty="0">
                <a:solidFill>
                  <a:srgbClr val="000000"/>
                </a:solidFill>
              </a:rPr>
              <a:t>Renewed: </a:t>
            </a:r>
            <a:pPr indent="0" marL="0">
              <a:spcAft>
                <a:spcPts val="900"/>
              </a:spcAft>
              <a:buNone/>
            </a:pPr>
            <a:r>
              <a:rPr lang="en-US" sz="1250" dirty="0">
                <a:solidFill>
                  <a:srgbClr val="000000"/>
                </a:solidFill>
              </a:rPr>
              <a:t>Oracle with Red Bull Racing (Feb); Visa across both Red Bull teams through 2030 (Feb).</a:t>
            </a:r>
            <a:endParaRPr lang="en-US" sz="1250" dirty="0"/>
          </a:p>
          <a:p>
            <a:pPr marL="342900" indent="-342900">
              <a:spcAft>
                <a:spcPts val="900"/>
              </a:spcAft>
              <a:buSzPct val="100000"/>
              <a:buChar char="■"/>
            </a:pPr>
            <a:r>
              <a:rPr lang="en-US" sz="1250" b="1" dirty="0">
                <a:solidFill>
                  <a:srgbClr val="000000"/>
                </a:solidFill>
              </a:rPr>
              <a:t>Power units: </a:t>
            </a:r>
            <a:pPr indent="0" marL="0">
              <a:spcAft>
                <a:spcPts val="900"/>
              </a:spcAft>
              <a:buNone/>
            </a:pPr>
            <a:r>
              <a:rPr lang="en-US" sz="1250" dirty="0">
                <a:solidFill>
                  <a:srgbClr val="000000"/>
                </a:solidFill>
              </a:rPr>
              <a:t>Honda moves from Red Bull to Aston Martin as works partner.</a:t>
            </a:r>
            <a:endParaRPr lang="en-US" sz="1250" dirty="0"/>
          </a:p>
        </p:txBody>
      </p:sp>
      <p:sp>
        <p:nvSpPr>
          <p:cNvPr id="11" name="Shape 8"/>
          <p:cNvSpPr/>
          <p:nvPr/>
        </p:nvSpPr>
        <p:spPr>
          <a:xfrm>
            <a:off x="4300728" y="1554480"/>
            <a:ext cx="3587496" cy="4160520"/>
          </a:xfrm>
          <a:prstGeom prst="rect">
            <a:avLst/>
          </a:prstGeom>
          <a:solidFill>
            <a:schemeClr val="accent4"/>
          </a:solidFill>
          <a:ln w="12700">
            <a:solidFill>
              <a:schemeClr val="bg2"/>
            </a:solidFill>
            <a:prstDash val="solid"/>
          </a:ln>
        </p:spPr>
      </p:sp>
      <p:sp>
        <p:nvSpPr>
          <p:cNvPr id="12" name="Text 9"/>
          <p:cNvSpPr txBox="1"/>
          <p:nvPr/>
        </p:nvSpPr>
        <p:spPr>
          <a:xfrm>
            <a:off x="4529328" y="1737360"/>
            <a:ext cx="3130296" cy="292608"/>
          </a:xfrm>
          <a:prstGeom prst="rect">
            <a:avLst/>
          </a:prstGeom>
          <a:noFill/>
          <a:ln/>
        </p:spPr>
        <p:txBody>
          <a:bodyPr wrap="square" lIns="0" tIns="0" rIns="0" bIns="0" rtlCol="0" anchor="ctr"/>
          <a:lstStyle/>
          <a:p>
            <a:pPr indent="0" marL="0">
              <a:buNone/>
            </a:pPr>
            <a:r>
              <a:rPr lang="en-US" sz="1300" b="1" spc="100" kern="0" dirty="0">
                <a:solidFill>
                  <a:schemeClr val="accent1"/>
                </a:solidFill>
              </a:rPr>
              <a:t>NEW DEALS ANNOUNCED IN 2026</a:t>
            </a:r>
            <a:endParaRPr lang="en-US" sz="1300" dirty="0"/>
          </a:p>
        </p:txBody>
      </p:sp>
      <p:sp>
        <p:nvSpPr>
          <p:cNvPr id="13" name="Text 10"/>
          <p:cNvSpPr txBox="1"/>
          <p:nvPr/>
        </p:nvSpPr>
        <p:spPr>
          <a:xfrm>
            <a:off x="4529328" y="2148840"/>
            <a:ext cx="3130296" cy="3429000"/>
          </a:xfrm>
          <a:prstGeom prst="rect">
            <a:avLst/>
          </a:prstGeom>
          <a:noFill/>
          <a:ln/>
        </p:spPr>
        <p:txBody>
          <a:bodyPr wrap="square" lIns="0" tIns="0" rIns="0" bIns="0" rtlCol="0" anchor="t"/>
          <a:lstStyle/>
          <a:p>
            <a:pPr marL="342900" indent="-342900">
              <a:spcAft>
                <a:spcPts val="900"/>
              </a:spcAft>
              <a:buSzPct val="100000"/>
              <a:buChar char="■"/>
            </a:pPr>
            <a:r>
              <a:rPr lang="en-US" sz="1250" b="1" dirty="0">
                <a:solidFill>
                  <a:srgbClr val="000000"/>
                </a:solidFill>
              </a:rPr>
              <a:t>McLaren: </a:t>
            </a:r>
            <a:pPr indent="0" marL="0">
              <a:spcAft>
                <a:spcPts val="900"/>
              </a:spcAft>
              <a:buNone/>
            </a:pPr>
            <a:r>
              <a:rPr lang="en-US" sz="1250" dirty="0">
                <a:solidFill>
                  <a:srgbClr val="000000"/>
                </a:solidFill>
              </a:rPr>
              <a:t>PUMA, Schneider Electric, Hedera, Rubrik (Jan); Etihad (Feb); Global (May); SharkNinja (Sep); AbbVie (Oct).</a:t>
            </a:r>
            <a:endParaRPr lang="en-US" sz="1250" dirty="0"/>
          </a:p>
          <a:p>
            <a:pPr marL="342900" indent="-342900">
              <a:spcAft>
                <a:spcPts val="900"/>
              </a:spcAft>
              <a:buSzPct val="100000"/>
              <a:buChar char="■"/>
            </a:pPr>
            <a:r>
              <a:rPr lang="en-US" sz="1250" b="1" dirty="0">
                <a:solidFill>
                  <a:srgbClr val="000000"/>
                </a:solidFill>
              </a:rPr>
              <a:t>Mercedes: </a:t>
            </a:r>
            <a:pPr indent="0" marL="0">
              <a:spcAft>
                <a:spcPts val="900"/>
              </a:spcAft>
              <a:buNone/>
            </a:pPr>
            <a:r>
              <a:rPr lang="en-US" sz="1250" dirty="0">
                <a:solidFill>
                  <a:srgbClr val="000000"/>
                </a:solidFill>
              </a:rPr>
              <a:t>Microsoft (Jan); Stripe (Oct, from 2027).</a:t>
            </a:r>
            <a:endParaRPr lang="en-US" sz="1250" dirty="0"/>
          </a:p>
          <a:p>
            <a:pPr marL="342900" indent="-342900">
              <a:spcAft>
                <a:spcPts val="900"/>
              </a:spcAft>
              <a:buSzPct val="100000"/>
              <a:buChar char="■"/>
            </a:pPr>
            <a:r>
              <a:rPr lang="en-US" sz="1250" b="1" dirty="0">
                <a:solidFill>
                  <a:srgbClr val="000000"/>
                </a:solidFill>
              </a:rPr>
              <a:t>Cadillac: </a:t>
            </a:r>
            <a:pPr indent="0" marL="0">
              <a:spcAft>
                <a:spcPts val="900"/>
              </a:spcAft>
              <a:buNone/>
            </a:pPr>
            <a:r>
              <a:rPr lang="en-US" sz="1250" dirty="0">
                <a:solidFill>
                  <a:srgbClr val="000000"/>
                </a:solidFill>
              </a:rPr>
              <a:t>IFS, Tenneco, Claro (Jan); TWG AI (Feb); Core Scientific (Mar); 3M (Jun); Frontieras (Oct).</a:t>
            </a:r>
            <a:endParaRPr lang="en-US" sz="1250" dirty="0"/>
          </a:p>
          <a:p>
            <a:pPr marL="342900" indent="-342900">
              <a:spcAft>
                <a:spcPts val="900"/>
              </a:spcAft>
              <a:buSzPct val="100000"/>
              <a:buChar char="■"/>
            </a:pPr>
            <a:r>
              <a:rPr lang="en-US" sz="1250" b="1" dirty="0">
                <a:solidFill>
                  <a:srgbClr val="000000"/>
                </a:solidFill>
              </a:rPr>
              <a:t>Audi: </a:t>
            </a:r>
            <a:pPr indent="0" marL="0">
              <a:spcAft>
                <a:spcPts val="900"/>
              </a:spcAft>
              <a:buNone/>
            </a:pPr>
            <a:r>
              <a:rPr lang="en-US" sz="1250" dirty="0">
                <a:solidFill>
                  <a:srgbClr val="000000"/>
                </a:solidFill>
              </a:rPr>
              <a:t>Nexo, ElevenLabs, Aleph (Jan); Libertex (Mar).</a:t>
            </a:r>
            <a:endParaRPr lang="en-US" sz="1250" dirty="0"/>
          </a:p>
          <a:p>
            <a:pPr marL="342900" indent="-342900">
              <a:spcAft>
                <a:spcPts val="900"/>
              </a:spcAft>
              <a:buSzPct val="100000"/>
              <a:buChar char="■"/>
            </a:pPr>
            <a:r>
              <a:rPr lang="en-US" sz="1250" b="1" dirty="0">
                <a:solidFill>
                  <a:srgbClr val="000000"/>
                </a:solidFill>
              </a:rPr>
              <a:t>Others: </a:t>
            </a:r>
            <a:pPr indent="0" marL="0">
              <a:spcAft>
                <a:spcPts val="900"/>
              </a:spcAft>
              <a:buNone/>
            </a:pPr>
            <a:r>
              <a:rPr lang="en-US" sz="1250" dirty="0">
                <a:solidFill>
                  <a:srgbClr val="000000"/>
                </a:solidFill>
              </a:rPr>
              <a:t>DAMAC (Red Bull, Feb); eToro and Adobe (Alpine, Jan and Oct); Castore and RUCKUS (Haas, Jan); Standard Chartered and Marsh (F1, Jan and Apr).</a:t>
            </a:r>
            <a:endParaRPr lang="en-US" sz="1250" dirty="0"/>
          </a:p>
        </p:txBody>
      </p:sp>
      <p:sp>
        <p:nvSpPr>
          <p:cNvPr id="14" name="Shape 11"/>
          <p:cNvSpPr/>
          <p:nvPr/>
        </p:nvSpPr>
        <p:spPr>
          <a:xfrm>
            <a:off x="8162544" y="1554480"/>
            <a:ext cx="3587496" cy="4160520"/>
          </a:xfrm>
          <a:prstGeom prst="rect">
            <a:avLst/>
          </a:prstGeom>
          <a:solidFill>
            <a:schemeClr val="bg2"/>
          </a:solidFill>
          <a:ln w="12700">
            <a:solidFill>
              <a:schemeClr val="bg2"/>
            </a:solidFill>
            <a:prstDash val="solid"/>
          </a:ln>
        </p:spPr>
      </p:sp>
      <p:sp>
        <p:nvSpPr>
          <p:cNvPr id="15" name="Text 12"/>
          <p:cNvSpPr txBox="1"/>
          <p:nvPr/>
        </p:nvSpPr>
        <p:spPr>
          <a:xfrm>
            <a:off x="8391144" y="1737360"/>
            <a:ext cx="3130296" cy="292608"/>
          </a:xfrm>
          <a:prstGeom prst="rect">
            <a:avLst/>
          </a:prstGeom>
          <a:noFill/>
          <a:ln/>
        </p:spPr>
        <p:txBody>
          <a:bodyPr wrap="square" lIns="0" tIns="0" rIns="0" bIns="0" rtlCol="0" anchor="ctr"/>
          <a:lstStyle/>
          <a:p>
            <a:pPr indent="0" marL="0">
              <a:buNone/>
            </a:pPr>
            <a:r>
              <a:rPr lang="en-US" sz="1300" b="1" spc="100" kern="0" dirty="0">
                <a:solidFill>
                  <a:schemeClr val="accent1"/>
                </a:solidFill>
              </a:rPr>
              <a:t>EXITS &amp; 2027 PIPELINE</a:t>
            </a:r>
            <a:endParaRPr lang="en-US" sz="1300" dirty="0"/>
          </a:p>
        </p:txBody>
      </p:sp>
      <p:sp>
        <p:nvSpPr>
          <p:cNvPr id="16" name="Text 13"/>
          <p:cNvSpPr txBox="1"/>
          <p:nvPr/>
        </p:nvSpPr>
        <p:spPr>
          <a:xfrm>
            <a:off x="8391144" y="2148840"/>
            <a:ext cx="3130296" cy="3429000"/>
          </a:xfrm>
          <a:prstGeom prst="rect">
            <a:avLst/>
          </a:prstGeom>
          <a:noFill/>
          <a:ln/>
        </p:spPr>
        <p:txBody>
          <a:bodyPr wrap="square" lIns="0" tIns="0" rIns="0" bIns="0" rtlCol="0" anchor="t"/>
          <a:lstStyle/>
          <a:p>
            <a:pPr marL="342900" indent="-342900">
              <a:spcAft>
                <a:spcPts val="900"/>
              </a:spcAft>
              <a:buSzPct val="100000"/>
              <a:buChar char="■"/>
            </a:pPr>
            <a:r>
              <a:rPr lang="en-US" sz="1250" b="1" dirty="0">
                <a:solidFill>
                  <a:srgbClr val="000000"/>
                </a:solidFill>
              </a:rPr>
              <a:t>Exits: </a:t>
            </a:r>
            <a:pPr indent="0" marL="0">
              <a:spcAft>
                <a:spcPts val="900"/>
              </a:spcAft>
              <a:buNone/>
            </a:pPr>
            <a:r>
              <a:rPr lang="en-US" sz="1250" dirty="0">
                <a:solidFill>
                  <a:srgbClr val="000000"/>
                </a:solidFill>
              </a:rPr>
              <a:t>Santander left Williams (Feb; still an F1 official partner); MoneyGram left Haas; Kick and Stake left with Sauber's rebrand to Audi; Castore replaced by PUMA at McLaren.</a:t>
            </a:r>
            <a:endParaRPr lang="en-US" sz="1250" dirty="0"/>
          </a:p>
          <a:p>
            <a:pPr marL="342900" indent="-342900">
              <a:spcAft>
                <a:spcPts val="900"/>
              </a:spcAft>
              <a:buSzPct val="100000"/>
              <a:buChar char="■"/>
            </a:pPr>
            <a:r>
              <a:rPr lang="en-US" sz="1250" b="1" dirty="0">
                <a:solidFill>
                  <a:srgbClr val="000000"/>
                </a:solidFill>
              </a:rPr>
              <a:t>Signed for 2027: </a:t>
            </a:r>
            <a:pPr indent="0" marL="0">
              <a:spcAft>
                <a:spcPts val="900"/>
              </a:spcAft>
              <a:buNone/>
            </a:pPr>
            <a:r>
              <a:rPr lang="en-US" sz="1250" dirty="0">
                <a:solidFill>
                  <a:srgbClr val="000000"/>
                </a:solidFill>
              </a:rPr>
              <a:t>Stripe becomes Mercedes' global payments partner; Rakuten joins Ferrari from 1 Jan 2027; Adobe's Alpine activations start with the 2027 season.</a:t>
            </a:r>
            <a:endParaRPr lang="en-US" sz="1250" dirty="0"/>
          </a:p>
          <a:p>
            <a:pPr marL="342900" indent="-342900">
              <a:spcAft>
                <a:spcPts val="900"/>
              </a:spcAft>
              <a:buSzPct val="100000"/>
              <a:buChar char="■"/>
            </a:pPr>
            <a:r>
              <a:rPr lang="en-US" sz="1250" b="1" dirty="0">
                <a:solidFill>
                  <a:srgbClr val="000000"/>
                </a:solidFill>
              </a:rPr>
              <a:t>Up for renewal: </a:t>
            </a:r>
            <a:pPr indent="0" marL="0">
              <a:spcAft>
                <a:spcPts val="900"/>
              </a:spcAft>
              <a:buNone/>
            </a:pPr>
            <a:r>
              <a:rPr lang="en-US" sz="1250" dirty="0">
                <a:solidFill>
                  <a:srgbClr val="000000"/>
                </a:solidFill>
              </a:rPr>
              <a:t>OKX's McLaren deal runs to the end of 2026.</a:t>
            </a:r>
            <a:endParaRPr lang="en-US" sz="125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38912" y="164592"/>
            <a:ext cx="8961120" cy="603504"/>
          </a:xfrm>
          <a:prstGeom prst="rect">
            <a:avLst/>
          </a:prstGeom>
          <a:noFill/>
          <a:ln/>
        </p:spPr>
        <p:txBody>
          <a:bodyPr wrap="square" lIns="0" tIns="0" rIns="0" bIns="0" rtlCol="0" anchor="ctr"/>
          <a:lstStyle/>
          <a:p>
            <a:pPr algn="l" indent="0" marL="0">
              <a:buNone/>
            </a:pPr>
            <a:r>
              <a:rPr lang="en-US" sz="3600" b="1" dirty="0">
                <a:solidFill>
                  <a:schemeClr val="accent1"/>
                </a:solidFill>
              </a:rPr>
              <a:t>PARTNER ECOSYSTEM</a:t>
            </a:r>
            <a:endParaRPr lang="en-US" sz="3600" dirty="0"/>
          </a:p>
        </p:txBody>
      </p:sp>
      <p:sp>
        <p:nvSpPr>
          <p:cNvPr id="3" name="Text 1"/>
          <p:cNvSpPr/>
          <p:nvPr>
            <p:ph idx="103" type="body" hasCustomPrompt="1"/>
          </p:nvPr>
        </p:nvSpPr>
        <p:spPr>
          <a:xfrm>
            <a:off x="438912" y="804672"/>
            <a:ext cx="10515600" cy="329184"/>
          </a:xfrm>
          <a:prstGeom prst="rect">
            <a:avLst/>
          </a:prstGeom>
          <a:noFill/>
          <a:ln/>
        </p:spPr>
        <p:txBody>
          <a:bodyPr wrap="square" lIns="0" tIns="0" rIns="0" bIns="0" rtlCol="0" anchor="ctr"/>
          <a:lstStyle/>
          <a:p>
            <a:pPr indent="0" marL="0">
              <a:buNone/>
            </a:pPr>
            <a:r>
              <a:rPr lang="en-US" sz="1500" b="1" i="1" spc="600" kern="0" dirty="0">
                <a:solidFill>
                  <a:schemeClr val="tx1"/>
                </a:solidFill>
              </a:rPr>
              <a:t>CURRENT TEAM PARTNERS, ALL SECTORS (1/4)</a:t>
            </a:r>
            <a:endParaRPr lang="en-US" sz="1500" dirty="0"/>
          </a:p>
        </p:txBody>
      </p:sp>
      <p:sp>
        <p:nvSpPr>
          <p:cNvPr id="4" name="Text 4"/>
          <p:cNvSpPr/>
          <p:nvPr>
            <p:ph idx="107" type="body" hasCustomPrompt="1"/>
          </p:nvPr>
        </p:nvSpPr>
        <p:spPr>
          <a:xfrm>
            <a:off x="438912" y="6547104"/>
            <a:ext cx="10332720" cy="201168"/>
          </a:xfrm>
          <a:prstGeom prst="rect">
            <a:avLst/>
          </a:prstGeom>
          <a:noFill/>
          <a:ln/>
        </p:spPr>
        <p:txBody>
          <a:bodyPr wrap="square" lIns="0" tIns="0" rIns="0" bIns="0" rtlCol="0" anchor="ctr"/>
          <a:lstStyle/>
          <a:p>
            <a:pPr indent="0" marL="0">
              <a:buNone/>
            </a:pPr>
            <a:r>
              <a:rPr lang="en-US" sz="750" dirty="0">
                <a:solidFill>
                  <a:schemeClr val="accent5"/>
                </a:solidFill>
              </a:rPr>
              <a:t>Source: official team partner pages (read 29 Oct 2026); f1salaries.com (30 Sep 2026) for Ferrari, McLaren and Cadillac; RTR Sports (6 Oct 2026) for F1. Tiers harmonised by SPORTFIVE; see Notes &amp; Sources.</a:t>
            </a:r>
            <a:endParaRPr lang="en-US" sz="750" dirty="0"/>
          </a:p>
        </p:txBody>
      </p:sp>
      <p:sp>
        <p:nvSpPr>
          <p:cNvPr id="6" name="Text 3"/>
          <p:cNvSpPr txBox="1"/>
          <p:nvPr/>
        </p:nvSpPr>
        <p:spPr>
          <a:xfrm>
            <a:off x="438912" y="2468880"/>
            <a:ext cx="932688" cy="716171"/>
          </a:xfrm>
          <a:prstGeom prst="rect">
            <a:avLst/>
          </a:prstGeom>
          <a:noFill/>
          <a:ln/>
        </p:spPr>
        <p:txBody>
          <a:bodyPr wrap="square" lIns="0" tIns="0" rIns="0" bIns="0" rtlCol="0" anchor="ctr"/>
          <a:lstStyle/>
          <a:p>
            <a:pPr algn="r" indent="0" marL="0">
              <a:buNone/>
            </a:pPr>
            <a:r>
              <a:rPr lang="en-US" sz="850" b="1" dirty="0">
                <a:solidFill>
                  <a:schemeClr val="tx1"/>
                </a:solidFill>
              </a:rPr>
              <a:t>TITLE /</a:t>
            </a:r>
            <a:endParaRPr lang="en-US" sz="850" dirty="0"/>
          </a:p>
          <a:p>
            <a:pPr algn="r" indent="0" marL="0">
              <a:buNone/>
            </a:pPr>
            <a:r>
              <a:rPr lang="en-US" sz="850" b="1" dirty="0">
                <a:solidFill>
                  <a:schemeClr val="tx1"/>
                </a:solidFill>
              </a:rPr>
              <a:t>PRINCIPAL</a:t>
            </a:r>
            <a:endParaRPr lang="en-US" sz="850" dirty="0"/>
          </a:p>
          <a:p>
            <a:pPr algn="r" indent="0" marL="0">
              <a:buNone/>
            </a:pPr>
            <a:r>
              <a:rPr lang="en-US" sz="850" b="1" dirty="0">
                <a:solidFill>
                  <a:schemeClr val="tx1"/>
                </a:solidFill>
              </a:rPr>
              <a:t>PARTNER</a:t>
            </a:r>
            <a:endParaRPr lang="en-US" sz="850" dirty="0"/>
          </a:p>
        </p:txBody>
      </p:sp>
      <p:sp>
        <p:nvSpPr>
          <p:cNvPr id="7" name="Text 4"/>
          <p:cNvSpPr txBox="1"/>
          <p:nvPr/>
        </p:nvSpPr>
        <p:spPr>
          <a:xfrm>
            <a:off x="438912" y="3185051"/>
            <a:ext cx="932688" cy="2243546"/>
          </a:xfrm>
          <a:prstGeom prst="rect">
            <a:avLst/>
          </a:prstGeom>
          <a:noFill/>
          <a:ln/>
        </p:spPr>
        <p:txBody>
          <a:bodyPr wrap="square" lIns="0" tIns="0" rIns="0" bIns="0" rtlCol="0" anchor="ctr"/>
          <a:lstStyle/>
          <a:p>
            <a:pPr algn="r" indent="0" marL="0">
              <a:buNone/>
            </a:pPr>
            <a:r>
              <a:rPr lang="en-US" sz="850" b="1" dirty="0">
                <a:solidFill>
                  <a:schemeClr val="tx1"/>
                </a:solidFill>
              </a:rPr>
              <a:t>OFFICIAL /</a:t>
            </a:r>
            <a:endParaRPr lang="en-US" sz="850" dirty="0"/>
          </a:p>
          <a:p>
            <a:pPr algn="r" indent="0" marL="0">
              <a:buNone/>
            </a:pPr>
            <a:r>
              <a:rPr lang="en-US" sz="850" b="1" dirty="0">
                <a:solidFill>
                  <a:schemeClr val="tx1"/>
                </a:solidFill>
              </a:rPr>
              <a:t>TEAM</a:t>
            </a:r>
            <a:endParaRPr lang="en-US" sz="850" dirty="0"/>
          </a:p>
          <a:p>
            <a:pPr algn="r" indent="0" marL="0">
              <a:buNone/>
            </a:pPr>
            <a:r>
              <a:rPr lang="en-US" sz="850" b="1" dirty="0">
                <a:solidFill>
                  <a:schemeClr val="tx1"/>
                </a:solidFill>
              </a:rPr>
              <a:t>PARTNER</a:t>
            </a:r>
            <a:endParaRPr lang="en-US" sz="850" dirty="0"/>
          </a:p>
        </p:txBody>
      </p:sp>
      <p:sp>
        <p:nvSpPr>
          <p:cNvPr id="8" name="Text 5"/>
          <p:cNvSpPr txBox="1"/>
          <p:nvPr/>
        </p:nvSpPr>
        <p:spPr>
          <a:xfrm>
            <a:off x="438912" y="5428597"/>
            <a:ext cx="932688" cy="716171"/>
          </a:xfrm>
          <a:prstGeom prst="rect">
            <a:avLst/>
          </a:prstGeom>
          <a:noFill/>
          <a:ln/>
        </p:spPr>
        <p:txBody>
          <a:bodyPr wrap="square" lIns="0" tIns="0" rIns="0" bIns="0" rtlCol="0" anchor="ctr"/>
          <a:lstStyle/>
          <a:p>
            <a:pPr algn="r" indent="0" marL="0">
              <a:buNone/>
            </a:pPr>
            <a:r>
              <a:rPr lang="en-US" sz="850" b="1" dirty="0">
                <a:solidFill>
                  <a:schemeClr val="tx1"/>
                </a:solidFill>
              </a:rPr>
              <a:t>SUPPLIER /</a:t>
            </a:r>
            <a:endParaRPr lang="en-US" sz="850" dirty="0"/>
          </a:p>
          <a:p>
            <a:pPr algn="r" indent="0" marL="0">
              <a:buNone/>
            </a:pPr>
            <a:r>
              <a:rPr lang="en-US" sz="850" b="1" dirty="0">
                <a:solidFill>
                  <a:schemeClr val="tx1"/>
                </a:solidFill>
              </a:rPr>
              <a:t>REGIONAL /</a:t>
            </a:r>
            <a:endParaRPr lang="en-US" sz="850" dirty="0"/>
          </a:p>
          <a:p>
            <a:pPr algn="r" indent="0" marL="0">
              <a:buNone/>
            </a:pPr>
            <a:r>
              <a:rPr lang="en-US" sz="850" b="1" dirty="0">
                <a:solidFill>
                  <a:schemeClr val="tx1"/>
                </a:solidFill>
              </a:rPr>
              <a:t>LICENSEE</a:t>
            </a:r>
            <a:endParaRPr lang="en-US" sz="850" dirty="0"/>
          </a:p>
        </p:txBody>
      </p:sp>
      <p:sp>
        <p:nvSpPr>
          <p:cNvPr id="9" name="Text 6"/>
          <p:cNvSpPr txBox="1"/>
          <p:nvPr/>
        </p:nvSpPr>
        <p:spPr>
          <a:xfrm>
            <a:off x="1508760" y="1426464"/>
            <a:ext cx="3361944" cy="256032"/>
          </a:xfrm>
          <a:prstGeom prst="rect">
            <a:avLst/>
          </a:prstGeom>
          <a:noFill/>
          <a:ln/>
        </p:spPr>
        <p:txBody>
          <a:bodyPr wrap="square" lIns="0" tIns="0" rIns="0" bIns="0" rtlCol="0" anchor="ctr"/>
          <a:lstStyle/>
          <a:p>
            <a:pPr indent="0" marL="0">
              <a:buNone/>
            </a:pPr>
            <a:r>
              <a:rPr lang="en-US" sz="1200" b="1" dirty="0">
                <a:solidFill>
                  <a:schemeClr val="tx1"/>
                </a:solidFill>
              </a:rPr>
              <a:t>Central Organisation</a:t>
            </a:r>
            <a:endParaRPr lang="en-US" sz="1200" dirty="0"/>
          </a:p>
        </p:txBody>
      </p:sp>
      <p:sp>
        <p:nvSpPr>
          <p:cNvPr id="10" name="Shape 7"/>
          <p:cNvSpPr/>
          <p:nvPr/>
        </p:nvSpPr>
        <p:spPr>
          <a:xfrm>
            <a:off x="1517904" y="2468880"/>
            <a:ext cx="3252216" cy="716171"/>
          </a:xfrm>
          <a:prstGeom prst="rect">
            <a:avLst/>
          </a:prstGeom>
          <a:solidFill>
            <a:schemeClr val="accent4"/>
          </a:solidFill>
          <a:ln w="12700">
            <a:solidFill>
              <a:schemeClr val="accent4"/>
            </a:solidFill>
            <a:prstDash val="solid"/>
          </a:ln>
        </p:spPr>
      </p:sp>
      <p:sp>
        <p:nvSpPr>
          <p:cNvPr id="11" name="Shape 8"/>
          <p:cNvSpPr/>
          <p:nvPr/>
        </p:nvSpPr>
        <p:spPr>
          <a:xfrm>
            <a:off x="1517904" y="3185051"/>
            <a:ext cx="3252216" cy="2243546"/>
          </a:xfrm>
          <a:prstGeom prst="rect">
            <a:avLst/>
          </a:prstGeom>
          <a:solidFill>
            <a:schemeClr val="bg1"/>
          </a:solidFill>
          <a:ln w="12700">
            <a:solidFill>
              <a:schemeClr val="bg1"/>
            </a:solidFill>
            <a:prstDash val="solid"/>
          </a:ln>
        </p:spPr>
      </p:sp>
      <p:sp>
        <p:nvSpPr>
          <p:cNvPr id="12" name="Shape 9"/>
          <p:cNvSpPr/>
          <p:nvPr/>
        </p:nvSpPr>
        <p:spPr>
          <a:xfrm>
            <a:off x="1517904" y="5428597"/>
            <a:ext cx="3252216" cy="716171"/>
          </a:xfrm>
          <a:prstGeom prst="rect">
            <a:avLst/>
          </a:prstGeom>
          <a:solidFill>
            <a:schemeClr val="bg2"/>
          </a:solidFill>
          <a:ln w="12700">
            <a:solidFill>
              <a:schemeClr val="bg2"/>
            </a:solidFill>
            <a:prstDash val="solid"/>
          </a:ln>
        </p:spPr>
      </p:sp>
      <p:sp>
        <p:nvSpPr>
          <p:cNvPr id="13" name="Shape 10"/>
          <p:cNvSpPr/>
          <p:nvPr/>
        </p:nvSpPr>
        <p:spPr>
          <a:xfrm>
            <a:off x="1517904" y="2468880"/>
            <a:ext cx="3252216" cy="0"/>
          </a:xfrm>
          <a:prstGeom prst="line">
            <a:avLst/>
          </a:prstGeom>
          <a:noFill/>
          <a:ln w="12700">
            <a:solidFill>
              <a:schemeClr val="accent6"/>
            </a:solidFill>
            <a:prstDash val="solid"/>
          </a:ln>
        </p:spPr>
      </p:sp>
      <p:pic>
        <p:nvPicPr>
          <p:cNvPr id="14" name="Image 0" descr="Formula 1 logo">    </p:cNvPr>
          <p:cNvPicPr>
            <a:picLocks noChangeAspect="1"/>
          </p:cNvPicPr>
          <p:nvPr/>
        </p:nvPicPr>
        <p:blipFill>
          <a:blip r:embed="rId1"/>
          <a:stretch>
            <a:fillRect/>
          </a:stretch>
        </p:blipFill>
        <p:spPr>
          <a:xfrm>
            <a:off x="2297198" y="1783080"/>
            <a:ext cx="1693628" cy="457200"/>
          </a:xfrm>
          <a:prstGeom prst="rect">
            <a:avLst/>
          </a:prstGeom>
        </p:spPr>
      </p:pic>
      <p:sp>
        <p:nvSpPr>
          <p:cNvPr id="15" name="Text 11"/>
          <p:cNvSpPr txBox="1"/>
          <p:nvPr/>
        </p:nvSpPr>
        <p:spPr>
          <a:xfrm>
            <a:off x="1463040" y="2249424"/>
            <a:ext cx="3361944"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36 PARTNERS</a:t>
            </a:r>
            <a:endParaRPr lang="en-US" sz="800" dirty="0"/>
          </a:p>
        </p:txBody>
      </p:sp>
      <p:sp>
        <p:nvSpPr>
          <p:cNvPr id="16" name="Text 12"/>
          <p:cNvSpPr txBox="1"/>
          <p:nvPr/>
        </p:nvSpPr>
        <p:spPr>
          <a:xfrm>
            <a:off x="1527048" y="2507285"/>
            <a:ext cx="3233928" cy="639361"/>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Aramco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AWS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DHL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Heineken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Lenovo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LVMH</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MSC Cruises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Pirelli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Qatar Airways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Salesforce</a:t>
            </a:r>
            <a:endParaRPr lang="en-US" sz="1100" dirty="0"/>
          </a:p>
        </p:txBody>
      </p:sp>
      <p:sp>
        <p:nvSpPr>
          <p:cNvPr id="17" name="Text 13"/>
          <p:cNvSpPr txBox="1"/>
          <p:nvPr/>
        </p:nvSpPr>
        <p:spPr>
          <a:xfrm>
            <a:off x="1527048" y="3223456"/>
            <a:ext cx="3233928" cy="2166737"/>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Allwyn</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American Express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Barilla</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Crypto.com</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Globant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Las Vegas Convention &amp; Visitors Authority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LIQUI MOLY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Louis Vuitton</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C00000"/>
                </a:solidFill>
              </a:rPr>
              <a:t>Marsh</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Moët Hennessy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Nestlé (KitKat)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Paramount+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PepsiCo</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PwC</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Santander</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C00000"/>
                </a:solidFill>
              </a:rPr>
              <a:t>Standard Chartered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TAG Heuer</a:t>
            </a:r>
            <a:endParaRPr lang="en-US" sz="1100" dirty="0"/>
          </a:p>
        </p:txBody>
      </p:sp>
      <p:sp>
        <p:nvSpPr>
          <p:cNvPr id="18" name="Text 14"/>
          <p:cNvSpPr txBox="1"/>
          <p:nvPr/>
        </p:nvSpPr>
        <p:spPr>
          <a:xfrm>
            <a:off x="1527048" y="5467002"/>
            <a:ext cx="3233928" cy="639361"/>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Arcos Dorados (McDonald's)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T‑Mobile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Aggreko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Fever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Flexjet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PUMA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Tata Communications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Betway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FanDuel</a:t>
            </a:r>
            <a:endParaRPr lang="en-US" sz="1100" dirty="0"/>
          </a:p>
        </p:txBody>
      </p:sp>
      <p:sp>
        <p:nvSpPr>
          <p:cNvPr id="19" name="Shape 15"/>
          <p:cNvSpPr/>
          <p:nvPr/>
        </p:nvSpPr>
        <p:spPr>
          <a:xfrm>
            <a:off x="1444752" y="1700784"/>
            <a:ext cx="3398520" cy="4480560"/>
          </a:xfrm>
          <a:prstGeom prst="roundRect">
            <a:avLst>
              <a:gd name="adj" fmla="val 3229"/>
            </a:avLst>
          </a:prstGeom>
          <a:ln w="25400">
            <a:solidFill>
              <a:srgbClr val="F08080"/>
            </a:solidFill>
            <a:prstDash val="solid"/>
          </a:ln>
        </p:spPr>
      </p:sp>
      <p:sp>
        <p:nvSpPr>
          <p:cNvPr id="20" name="Text 16"/>
          <p:cNvSpPr txBox="1"/>
          <p:nvPr/>
        </p:nvSpPr>
        <p:spPr>
          <a:xfrm>
            <a:off x="5071872" y="1426464"/>
            <a:ext cx="6723888" cy="256032"/>
          </a:xfrm>
          <a:prstGeom prst="rect">
            <a:avLst/>
          </a:prstGeom>
          <a:noFill/>
          <a:ln/>
        </p:spPr>
        <p:txBody>
          <a:bodyPr wrap="square" lIns="0" tIns="0" rIns="0" bIns="0" rtlCol="0" anchor="ctr"/>
          <a:lstStyle/>
          <a:p>
            <a:pPr indent="0" marL="0">
              <a:buNone/>
            </a:pPr>
            <a:r>
              <a:rPr lang="en-US" sz="1200" b="1" dirty="0">
                <a:solidFill>
                  <a:schemeClr val="tx1"/>
                </a:solidFill>
              </a:rPr>
              <a:t>Podium Teams</a:t>
            </a:r>
            <a:endParaRPr lang="en-US" sz="1200" dirty="0"/>
          </a:p>
        </p:txBody>
      </p:sp>
      <p:sp>
        <p:nvSpPr>
          <p:cNvPr id="21" name="Shape 17"/>
          <p:cNvSpPr/>
          <p:nvPr/>
        </p:nvSpPr>
        <p:spPr>
          <a:xfrm>
            <a:off x="5081016" y="2468880"/>
            <a:ext cx="6614160" cy="716171"/>
          </a:xfrm>
          <a:prstGeom prst="rect">
            <a:avLst/>
          </a:prstGeom>
          <a:solidFill>
            <a:schemeClr val="accent4"/>
          </a:solidFill>
          <a:ln w="12700">
            <a:solidFill>
              <a:schemeClr val="accent4"/>
            </a:solidFill>
            <a:prstDash val="solid"/>
          </a:ln>
        </p:spPr>
      </p:sp>
      <p:sp>
        <p:nvSpPr>
          <p:cNvPr id="22" name="Shape 18"/>
          <p:cNvSpPr/>
          <p:nvPr/>
        </p:nvSpPr>
        <p:spPr>
          <a:xfrm>
            <a:off x="5081016" y="3185051"/>
            <a:ext cx="6614160" cy="2243546"/>
          </a:xfrm>
          <a:prstGeom prst="rect">
            <a:avLst/>
          </a:prstGeom>
          <a:solidFill>
            <a:schemeClr val="bg1"/>
          </a:solidFill>
          <a:ln w="12700">
            <a:solidFill>
              <a:schemeClr val="bg1"/>
            </a:solidFill>
            <a:prstDash val="solid"/>
          </a:ln>
        </p:spPr>
      </p:sp>
      <p:sp>
        <p:nvSpPr>
          <p:cNvPr id="23" name="Shape 19"/>
          <p:cNvSpPr/>
          <p:nvPr/>
        </p:nvSpPr>
        <p:spPr>
          <a:xfrm>
            <a:off x="5081016" y="5428597"/>
            <a:ext cx="6614160" cy="716171"/>
          </a:xfrm>
          <a:prstGeom prst="rect">
            <a:avLst/>
          </a:prstGeom>
          <a:solidFill>
            <a:schemeClr val="bg2"/>
          </a:solidFill>
          <a:ln w="12700">
            <a:solidFill>
              <a:schemeClr val="bg2"/>
            </a:solidFill>
            <a:prstDash val="solid"/>
          </a:ln>
        </p:spPr>
      </p:sp>
      <p:sp>
        <p:nvSpPr>
          <p:cNvPr id="24" name="Shape 20"/>
          <p:cNvSpPr/>
          <p:nvPr/>
        </p:nvSpPr>
        <p:spPr>
          <a:xfrm>
            <a:off x="5081016" y="2468880"/>
            <a:ext cx="6614160" cy="0"/>
          </a:xfrm>
          <a:prstGeom prst="line">
            <a:avLst/>
          </a:prstGeom>
          <a:noFill/>
          <a:ln w="12700">
            <a:solidFill>
              <a:schemeClr val="accent6"/>
            </a:solidFill>
            <a:prstDash val="solid"/>
          </a:ln>
        </p:spPr>
      </p:sp>
      <p:pic>
        <p:nvPicPr>
          <p:cNvPr id="25" name="Image 1" descr="Mercedes-AMG Petronas logo">    </p:cNvPr>
          <p:cNvPicPr>
            <a:picLocks noChangeAspect="1"/>
          </p:cNvPicPr>
          <p:nvPr/>
        </p:nvPicPr>
        <p:blipFill>
          <a:blip r:embed="rId2"/>
          <a:stretch>
            <a:fillRect/>
          </a:stretch>
        </p:blipFill>
        <p:spPr>
          <a:xfrm>
            <a:off x="6498025" y="1783080"/>
            <a:ext cx="418197" cy="457200"/>
          </a:xfrm>
          <a:prstGeom prst="rect">
            <a:avLst/>
          </a:prstGeom>
        </p:spPr>
      </p:pic>
      <p:sp>
        <p:nvSpPr>
          <p:cNvPr id="26" name="Text 21"/>
          <p:cNvSpPr txBox="1"/>
          <p:nvPr/>
        </p:nvSpPr>
        <p:spPr>
          <a:xfrm>
            <a:off x="5026152" y="2249424"/>
            <a:ext cx="3361944"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30 PARTNERS</a:t>
            </a:r>
            <a:endParaRPr lang="en-US" sz="800" dirty="0"/>
          </a:p>
        </p:txBody>
      </p:sp>
      <p:sp>
        <p:nvSpPr>
          <p:cNvPr id="27" name="Text 22"/>
          <p:cNvSpPr txBox="1"/>
          <p:nvPr/>
        </p:nvSpPr>
        <p:spPr>
          <a:xfrm>
            <a:off x="5090160" y="2507285"/>
            <a:ext cx="3233928" cy="639361"/>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PETRONAS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CrowdStrike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INEOS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Microsoft</a:t>
            </a:r>
            <a:endParaRPr lang="en-US" sz="1100" dirty="0"/>
          </a:p>
        </p:txBody>
      </p:sp>
      <p:sp>
        <p:nvSpPr>
          <p:cNvPr id="28" name="Text 23"/>
          <p:cNvSpPr txBox="1"/>
          <p:nvPr/>
        </p:nvSpPr>
        <p:spPr>
          <a:xfrm>
            <a:off x="5090160" y="3223456"/>
            <a:ext cx="3233928" cy="2166737"/>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adidas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Snapdragon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TeamViewer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Solera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Hewlett Packard Enterprise</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UBS</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C00000"/>
                </a:solidFill>
              </a:rPr>
              <a:t>Stripe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Meta AI</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Nu</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WhatsApp</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Vercel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SAP</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G42</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Signify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Marriott Bonvoy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AMD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Einhell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IWC Schaffhausen</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Akkodis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Sherwin‑Williams</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Nasdaq</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PepsiCo</a:t>
            </a:r>
            <a:endParaRPr lang="en-US" sz="1100" dirty="0"/>
          </a:p>
        </p:txBody>
      </p:sp>
      <p:sp>
        <p:nvSpPr>
          <p:cNvPr id="29" name="Text 24"/>
          <p:cNvSpPr txBox="1"/>
          <p:nvPr/>
        </p:nvSpPr>
        <p:spPr>
          <a:xfrm>
            <a:off x="5090160" y="5467002"/>
            <a:ext cx="3233928" cy="639361"/>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Endless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Pirelli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Mous</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BetterUp</a:t>
            </a:r>
            <a:endParaRPr lang="en-US" sz="1100" dirty="0"/>
          </a:p>
        </p:txBody>
      </p:sp>
      <p:sp>
        <p:nvSpPr>
          <p:cNvPr id="30" name="Shape 25"/>
          <p:cNvSpPr/>
          <p:nvPr/>
        </p:nvSpPr>
        <p:spPr>
          <a:xfrm>
            <a:off x="8388096" y="1773936"/>
            <a:ext cx="0" cy="4315968"/>
          </a:xfrm>
          <a:prstGeom prst="line">
            <a:avLst/>
          </a:prstGeom>
          <a:noFill/>
          <a:ln w="9525">
            <a:solidFill>
              <a:schemeClr val="accent6"/>
            </a:solidFill>
            <a:prstDash val="solid"/>
          </a:ln>
        </p:spPr>
      </p:sp>
      <p:pic>
        <p:nvPicPr>
          <p:cNvPr id="31" name="Image 2" descr="Oracle Red Bull Racing logo">    </p:cNvPr>
          <p:cNvPicPr>
            <a:picLocks noChangeAspect="1"/>
          </p:cNvPicPr>
          <p:nvPr/>
        </p:nvPicPr>
        <p:blipFill>
          <a:blip r:embed="rId3"/>
          <a:stretch>
            <a:fillRect/>
          </a:stretch>
        </p:blipFill>
        <p:spPr>
          <a:xfrm>
            <a:off x="9615385" y="1783080"/>
            <a:ext cx="907366" cy="457200"/>
          </a:xfrm>
          <a:prstGeom prst="rect">
            <a:avLst/>
          </a:prstGeom>
        </p:spPr>
      </p:pic>
      <p:sp>
        <p:nvSpPr>
          <p:cNvPr id="32" name="Text 26"/>
          <p:cNvSpPr txBox="1"/>
          <p:nvPr/>
        </p:nvSpPr>
        <p:spPr>
          <a:xfrm>
            <a:off x="8388096" y="2249424"/>
            <a:ext cx="3361944"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34 PARTNERS</a:t>
            </a:r>
            <a:endParaRPr lang="en-US" sz="800" dirty="0"/>
          </a:p>
        </p:txBody>
      </p:sp>
      <p:sp>
        <p:nvSpPr>
          <p:cNvPr id="33" name="Text 27"/>
          <p:cNvSpPr txBox="1"/>
          <p:nvPr/>
        </p:nvSpPr>
        <p:spPr>
          <a:xfrm>
            <a:off x="8452104" y="2507285"/>
            <a:ext cx="3233928" cy="639361"/>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Oracle</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Visa</a:t>
            </a:r>
            <a:endParaRPr lang="en-US" sz="1100" dirty="0"/>
          </a:p>
        </p:txBody>
      </p:sp>
      <p:sp>
        <p:nvSpPr>
          <p:cNvPr id="34" name="Text 28"/>
          <p:cNvSpPr txBox="1"/>
          <p:nvPr/>
        </p:nvSpPr>
        <p:spPr>
          <a:xfrm>
            <a:off x="8452104" y="3223456"/>
            <a:ext cx="3233928" cy="2166737"/>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TAG Heuer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Rokt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Mobil 1</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Ford Racing</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Carlyle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DAMAC Properties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AT&amp;T</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Gate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Hard Rock</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AvaTrade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YETI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1Password</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Indeed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Siemens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Heineken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Castore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Armor All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Hexagon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New Era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Maui Jim</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Pepe Jeans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Rauch</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DMG MORI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Athletic Propulsion Labs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Synopsys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CLEAR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Philips Professional Displays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mophie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Neat</a:t>
            </a:r>
            <a:endParaRPr lang="en-US" sz="1100" dirty="0"/>
          </a:p>
        </p:txBody>
      </p:sp>
      <p:sp>
        <p:nvSpPr>
          <p:cNvPr id="35" name="Text 29"/>
          <p:cNvSpPr txBox="1"/>
          <p:nvPr/>
        </p:nvSpPr>
        <p:spPr>
          <a:xfrm>
            <a:off x="8452104" y="5467002"/>
            <a:ext cx="3233928" cy="639361"/>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Pirelli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Sparco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PWR</a:t>
            </a:r>
            <a:endParaRPr lang="en-US" sz="1100" dirty="0"/>
          </a:p>
        </p:txBody>
      </p:sp>
      <p:sp>
        <p:nvSpPr>
          <p:cNvPr id="36" name="Shape 30"/>
          <p:cNvSpPr/>
          <p:nvPr/>
        </p:nvSpPr>
        <p:spPr>
          <a:xfrm>
            <a:off x="5007864" y="1700784"/>
            <a:ext cx="6760464" cy="4480560"/>
          </a:xfrm>
          <a:prstGeom prst="roundRect">
            <a:avLst>
              <a:gd name="adj" fmla="val 2449"/>
            </a:avLst>
          </a:prstGeom>
          <a:ln w="25400">
            <a:solidFill>
              <a:schemeClr val="accent5"/>
            </a:solidFill>
            <a:prstDash val="solid"/>
          </a:ln>
        </p:spPr>
      </p:sp>
      <p:sp>
        <p:nvSpPr>
          <p:cNvPr id="37" name="Text 31"/>
          <p:cNvSpPr txBox="1"/>
          <p:nvPr/>
        </p:nvSpPr>
        <p:spPr>
          <a:xfrm>
            <a:off x="438912" y="6272784"/>
            <a:ext cx="10058400" cy="219456"/>
          </a:xfrm>
          <a:prstGeom prst="rect">
            <a:avLst/>
          </a:prstGeom>
          <a:noFill/>
          <a:ln/>
        </p:spPr>
        <p:txBody>
          <a:bodyPr wrap="square" lIns="0" tIns="0" rIns="0" bIns="0" rtlCol="0" anchor="ctr"/>
          <a:lstStyle/>
          <a:p>
            <a:pPr indent="0" marL="0">
              <a:buNone/>
            </a:pPr>
            <a:r>
              <a:rPr lang="en-US" sz="900" b="1" dirty="0">
                <a:solidFill>
                  <a:srgbClr val="000000"/>
                </a:solidFill>
              </a:rPr>
              <a:t>Bold</a:t>
            </a:r>
            <a:pPr indent="0" marL="0">
              <a:buNone/>
            </a:pPr>
            <a:r>
              <a:rPr lang="en-US" sz="900" dirty="0">
                <a:solidFill>
                  <a:srgbClr val="404040"/>
                </a:solidFill>
              </a:rPr>
              <a:t> = Wolters Kluwer focus sectors (financial services, professional services, life sciences &amp; health)      </a:t>
            </a:r>
            <a:pPr indent="0" marL="0">
              <a:buNone/>
            </a:pPr>
            <a:r>
              <a:rPr lang="en-US" sz="900" b="1" dirty="0">
                <a:solidFill>
                  <a:srgbClr val="C00000"/>
                </a:solidFill>
              </a:rPr>
              <a:t>Red</a:t>
            </a:r>
            <a:pPr indent="0" marL="0">
              <a:buNone/>
            </a:pPr>
            <a:r>
              <a:rPr lang="en-US" sz="900" dirty="0">
                <a:solidFill>
                  <a:srgbClr val="404040"/>
                </a:solidFill>
              </a:rPr>
              <a:t> = partnership announced in 2026</a:t>
            </a:r>
            <a:endParaRPr lang="en-US" sz="90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38912" y="164592"/>
            <a:ext cx="8961120" cy="603504"/>
          </a:xfrm>
          <a:prstGeom prst="rect">
            <a:avLst/>
          </a:prstGeom>
          <a:noFill/>
          <a:ln/>
        </p:spPr>
        <p:txBody>
          <a:bodyPr wrap="square" lIns="0" tIns="0" rIns="0" bIns="0" rtlCol="0" anchor="ctr"/>
          <a:lstStyle/>
          <a:p>
            <a:pPr algn="l" indent="0" marL="0">
              <a:buNone/>
            </a:pPr>
            <a:r>
              <a:rPr lang="en-US" sz="3600" b="1" dirty="0">
                <a:solidFill>
                  <a:schemeClr val="accent1"/>
                </a:solidFill>
              </a:rPr>
              <a:t>PARTNER ECOSYSTEM</a:t>
            </a:r>
            <a:endParaRPr lang="en-US" sz="3600" dirty="0"/>
          </a:p>
        </p:txBody>
      </p:sp>
      <p:sp>
        <p:nvSpPr>
          <p:cNvPr id="3" name="Text 1"/>
          <p:cNvSpPr/>
          <p:nvPr>
            <p:ph idx="103" type="body" hasCustomPrompt="1"/>
          </p:nvPr>
        </p:nvSpPr>
        <p:spPr>
          <a:xfrm>
            <a:off x="438912" y="804672"/>
            <a:ext cx="10515600" cy="329184"/>
          </a:xfrm>
          <a:prstGeom prst="rect">
            <a:avLst/>
          </a:prstGeom>
          <a:noFill/>
          <a:ln/>
        </p:spPr>
        <p:txBody>
          <a:bodyPr wrap="square" lIns="0" tIns="0" rIns="0" bIns="0" rtlCol="0" anchor="ctr"/>
          <a:lstStyle/>
          <a:p>
            <a:pPr indent="0" marL="0">
              <a:buNone/>
            </a:pPr>
            <a:r>
              <a:rPr lang="en-US" sz="1500" b="1" i="1" spc="600" kern="0" dirty="0">
                <a:solidFill>
                  <a:schemeClr val="tx1"/>
                </a:solidFill>
              </a:rPr>
              <a:t>CURRENT TEAM PARTNERS, ALL SECTORS (2/4)</a:t>
            </a:r>
            <a:endParaRPr lang="en-US" sz="1500" dirty="0"/>
          </a:p>
        </p:txBody>
      </p:sp>
      <p:sp>
        <p:nvSpPr>
          <p:cNvPr id="4" name="Text 4"/>
          <p:cNvSpPr/>
          <p:nvPr>
            <p:ph idx="107" type="body" hasCustomPrompt="1"/>
          </p:nvPr>
        </p:nvSpPr>
        <p:spPr>
          <a:xfrm>
            <a:off x="438912" y="6547104"/>
            <a:ext cx="10332720" cy="201168"/>
          </a:xfrm>
          <a:prstGeom prst="rect">
            <a:avLst/>
          </a:prstGeom>
          <a:noFill/>
          <a:ln/>
        </p:spPr>
        <p:txBody>
          <a:bodyPr wrap="square" lIns="0" tIns="0" rIns="0" bIns="0" rtlCol="0" anchor="ctr"/>
          <a:lstStyle/>
          <a:p>
            <a:pPr indent="0" marL="0">
              <a:buNone/>
            </a:pPr>
            <a:r>
              <a:rPr lang="en-US" sz="750" dirty="0">
                <a:solidFill>
                  <a:schemeClr val="accent5"/>
                </a:solidFill>
              </a:rPr>
              <a:t>Source: official team partner pages (read 29 Oct 2026); f1salaries.com (30 Sep 2026) for Ferrari, McLaren and Cadillac; RTR Sports (6 Oct 2026) for F1. Tiers harmonised by SPORTFIVE; see Notes &amp; Sources.</a:t>
            </a:r>
            <a:endParaRPr lang="en-US" sz="750" dirty="0"/>
          </a:p>
        </p:txBody>
      </p:sp>
      <p:sp>
        <p:nvSpPr>
          <p:cNvPr id="6" name="Text 3"/>
          <p:cNvSpPr txBox="1"/>
          <p:nvPr/>
        </p:nvSpPr>
        <p:spPr>
          <a:xfrm>
            <a:off x="438912" y="2468880"/>
            <a:ext cx="932688" cy="573810"/>
          </a:xfrm>
          <a:prstGeom prst="rect">
            <a:avLst/>
          </a:prstGeom>
          <a:noFill/>
          <a:ln/>
        </p:spPr>
        <p:txBody>
          <a:bodyPr wrap="square" lIns="0" tIns="0" rIns="0" bIns="0" rtlCol="0" anchor="ctr"/>
          <a:lstStyle/>
          <a:p>
            <a:pPr algn="r" indent="0" marL="0">
              <a:buNone/>
            </a:pPr>
            <a:r>
              <a:rPr lang="en-US" sz="850" b="1" dirty="0">
                <a:solidFill>
                  <a:schemeClr val="tx1"/>
                </a:solidFill>
              </a:rPr>
              <a:t>TITLE /</a:t>
            </a:r>
            <a:endParaRPr lang="en-US" sz="850" dirty="0"/>
          </a:p>
          <a:p>
            <a:pPr algn="r" indent="0" marL="0">
              <a:buNone/>
            </a:pPr>
            <a:r>
              <a:rPr lang="en-US" sz="850" b="1" dirty="0">
                <a:solidFill>
                  <a:schemeClr val="tx1"/>
                </a:solidFill>
              </a:rPr>
              <a:t>PRINCIPAL</a:t>
            </a:r>
            <a:endParaRPr lang="en-US" sz="850" dirty="0"/>
          </a:p>
          <a:p>
            <a:pPr algn="r" indent="0" marL="0">
              <a:buNone/>
            </a:pPr>
            <a:r>
              <a:rPr lang="en-US" sz="850" b="1" dirty="0">
                <a:solidFill>
                  <a:schemeClr val="tx1"/>
                </a:solidFill>
              </a:rPr>
              <a:t>PARTNER</a:t>
            </a:r>
            <a:endParaRPr lang="en-US" sz="850" dirty="0"/>
          </a:p>
        </p:txBody>
      </p:sp>
      <p:sp>
        <p:nvSpPr>
          <p:cNvPr id="7" name="Text 4"/>
          <p:cNvSpPr txBox="1"/>
          <p:nvPr/>
        </p:nvSpPr>
        <p:spPr>
          <a:xfrm>
            <a:off x="438912" y="3042690"/>
            <a:ext cx="932688" cy="2513605"/>
          </a:xfrm>
          <a:prstGeom prst="rect">
            <a:avLst/>
          </a:prstGeom>
          <a:noFill/>
          <a:ln/>
        </p:spPr>
        <p:txBody>
          <a:bodyPr wrap="square" lIns="0" tIns="0" rIns="0" bIns="0" rtlCol="0" anchor="ctr"/>
          <a:lstStyle/>
          <a:p>
            <a:pPr algn="r" indent="0" marL="0">
              <a:buNone/>
            </a:pPr>
            <a:r>
              <a:rPr lang="en-US" sz="850" b="1" dirty="0">
                <a:solidFill>
                  <a:schemeClr val="tx1"/>
                </a:solidFill>
              </a:rPr>
              <a:t>OFFICIAL /</a:t>
            </a:r>
            <a:endParaRPr lang="en-US" sz="850" dirty="0"/>
          </a:p>
          <a:p>
            <a:pPr algn="r" indent="0" marL="0">
              <a:buNone/>
            </a:pPr>
            <a:r>
              <a:rPr lang="en-US" sz="850" b="1" dirty="0">
                <a:solidFill>
                  <a:schemeClr val="tx1"/>
                </a:solidFill>
              </a:rPr>
              <a:t>TEAM</a:t>
            </a:r>
            <a:endParaRPr lang="en-US" sz="850" dirty="0"/>
          </a:p>
          <a:p>
            <a:pPr algn="r" indent="0" marL="0">
              <a:buNone/>
            </a:pPr>
            <a:r>
              <a:rPr lang="en-US" sz="850" b="1" dirty="0">
                <a:solidFill>
                  <a:schemeClr val="tx1"/>
                </a:solidFill>
              </a:rPr>
              <a:t>PARTNER</a:t>
            </a:r>
            <a:endParaRPr lang="en-US" sz="850" dirty="0"/>
          </a:p>
        </p:txBody>
      </p:sp>
      <p:sp>
        <p:nvSpPr>
          <p:cNvPr id="8" name="Text 5"/>
          <p:cNvSpPr txBox="1"/>
          <p:nvPr/>
        </p:nvSpPr>
        <p:spPr>
          <a:xfrm>
            <a:off x="438912" y="5556294"/>
            <a:ext cx="932688" cy="588474"/>
          </a:xfrm>
          <a:prstGeom prst="rect">
            <a:avLst/>
          </a:prstGeom>
          <a:noFill/>
          <a:ln/>
        </p:spPr>
        <p:txBody>
          <a:bodyPr wrap="square" lIns="0" tIns="0" rIns="0" bIns="0" rtlCol="0" anchor="ctr"/>
          <a:lstStyle/>
          <a:p>
            <a:pPr algn="r" indent="0" marL="0">
              <a:buNone/>
            </a:pPr>
            <a:r>
              <a:rPr lang="en-US" sz="850" b="1" dirty="0">
                <a:solidFill>
                  <a:schemeClr val="tx1"/>
                </a:solidFill>
              </a:rPr>
              <a:t>SUPPLIER /</a:t>
            </a:r>
            <a:endParaRPr lang="en-US" sz="850" dirty="0"/>
          </a:p>
          <a:p>
            <a:pPr algn="r" indent="0" marL="0">
              <a:buNone/>
            </a:pPr>
            <a:r>
              <a:rPr lang="en-US" sz="850" b="1" dirty="0">
                <a:solidFill>
                  <a:schemeClr val="tx1"/>
                </a:solidFill>
              </a:rPr>
              <a:t>REGIONAL /</a:t>
            </a:r>
            <a:endParaRPr lang="en-US" sz="850" dirty="0"/>
          </a:p>
          <a:p>
            <a:pPr algn="r" indent="0" marL="0">
              <a:buNone/>
            </a:pPr>
            <a:r>
              <a:rPr lang="en-US" sz="850" b="1" dirty="0">
                <a:solidFill>
                  <a:schemeClr val="tx1"/>
                </a:solidFill>
              </a:rPr>
              <a:t>LICENSEE</a:t>
            </a:r>
            <a:endParaRPr lang="en-US" sz="850" dirty="0"/>
          </a:p>
        </p:txBody>
      </p:sp>
      <p:sp>
        <p:nvSpPr>
          <p:cNvPr id="9" name="Text 6"/>
          <p:cNvSpPr txBox="1"/>
          <p:nvPr/>
        </p:nvSpPr>
        <p:spPr>
          <a:xfrm>
            <a:off x="1508760" y="1426464"/>
            <a:ext cx="10287000" cy="256032"/>
          </a:xfrm>
          <a:prstGeom prst="rect">
            <a:avLst/>
          </a:prstGeom>
          <a:noFill/>
          <a:ln/>
        </p:spPr>
        <p:txBody>
          <a:bodyPr wrap="square" lIns="0" tIns="0" rIns="0" bIns="0" rtlCol="0" anchor="ctr"/>
          <a:lstStyle/>
          <a:p>
            <a:pPr indent="0" marL="0">
              <a:buNone/>
            </a:pPr>
            <a:r>
              <a:rPr lang="en-US" sz="1200" b="1" dirty="0">
                <a:solidFill>
                  <a:schemeClr val="tx1"/>
                </a:solidFill>
              </a:rPr>
              <a:t>Podium Teams</a:t>
            </a:r>
            <a:endParaRPr lang="en-US" sz="1200" dirty="0"/>
          </a:p>
        </p:txBody>
      </p:sp>
      <p:sp>
        <p:nvSpPr>
          <p:cNvPr id="10" name="Shape 7"/>
          <p:cNvSpPr/>
          <p:nvPr/>
        </p:nvSpPr>
        <p:spPr>
          <a:xfrm>
            <a:off x="1517904" y="2468880"/>
            <a:ext cx="10177272" cy="573810"/>
          </a:xfrm>
          <a:prstGeom prst="rect">
            <a:avLst/>
          </a:prstGeom>
          <a:solidFill>
            <a:schemeClr val="accent4"/>
          </a:solidFill>
          <a:ln w="12700">
            <a:solidFill>
              <a:schemeClr val="accent4"/>
            </a:solidFill>
            <a:prstDash val="solid"/>
          </a:ln>
        </p:spPr>
      </p:sp>
      <p:sp>
        <p:nvSpPr>
          <p:cNvPr id="11" name="Shape 8"/>
          <p:cNvSpPr/>
          <p:nvPr/>
        </p:nvSpPr>
        <p:spPr>
          <a:xfrm>
            <a:off x="1517904" y="3042690"/>
            <a:ext cx="10177272" cy="2513605"/>
          </a:xfrm>
          <a:prstGeom prst="rect">
            <a:avLst/>
          </a:prstGeom>
          <a:solidFill>
            <a:schemeClr val="bg1"/>
          </a:solidFill>
          <a:ln w="12700">
            <a:solidFill>
              <a:schemeClr val="bg1"/>
            </a:solidFill>
            <a:prstDash val="solid"/>
          </a:ln>
        </p:spPr>
      </p:sp>
      <p:sp>
        <p:nvSpPr>
          <p:cNvPr id="12" name="Shape 9"/>
          <p:cNvSpPr/>
          <p:nvPr/>
        </p:nvSpPr>
        <p:spPr>
          <a:xfrm>
            <a:off x="1517904" y="5556294"/>
            <a:ext cx="10177272" cy="588474"/>
          </a:xfrm>
          <a:prstGeom prst="rect">
            <a:avLst/>
          </a:prstGeom>
          <a:solidFill>
            <a:schemeClr val="bg2"/>
          </a:solidFill>
          <a:ln w="12700">
            <a:solidFill>
              <a:schemeClr val="bg2"/>
            </a:solidFill>
            <a:prstDash val="solid"/>
          </a:ln>
        </p:spPr>
      </p:sp>
      <p:sp>
        <p:nvSpPr>
          <p:cNvPr id="13" name="Shape 10"/>
          <p:cNvSpPr/>
          <p:nvPr/>
        </p:nvSpPr>
        <p:spPr>
          <a:xfrm>
            <a:off x="1517904" y="2468880"/>
            <a:ext cx="10177272" cy="0"/>
          </a:xfrm>
          <a:prstGeom prst="line">
            <a:avLst/>
          </a:prstGeom>
          <a:noFill/>
          <a:ln w="12700">
            <a:solidFill>
              <a:schemeClr val="accent6"/>
            </a:solidFill>
            <a:prstDash val="solid"/>
          </a:ln>
        </p:spPr>
      </p:sp>
      <p:pic>
        <p:nvPicPr>
          <p:cNvPr id="14" name="Image 0" descr="Scuderia Ferrari HP logo">    </p:cNvPr>
          <p:cNvPicPr>
            <a:picLocks noChangeAspect="1"/>
          </p:cNvPicPr>
          <p:nvPr/>
        </p:nvPicPr>
        <p:blipFill>
          <a:blip r:embed="rId1"/>
          <a:stretch>
            <a:fillRect/>
          </a:stretch>
        </p:blipFill>
        <p:spPr>
          <a:xfrm>
            <a:off x="3493369" y="1783080"/>
            <a:ext cx="1082842" cy="457200"/>
          </a:xfrm>
          <a:prstGeom prst="rect">
            <a:avLst/>
          </a:prstGeom>
        </p:spPr>
      </p:pic>
      <p:sp>
        <p:nvSpPr>
          <p:cNvPr id="15" name="Text 11"/>
          <p:cNvSpPr txBox="1"/>
          <p:nvPr/>
        </p:nvSpPr>
        <p:spPr>
          <a:xfrm>
            <a:off x="1463040" y="2249424"/>
            <a:ext cx="514350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41 PARTNERS</a:t>
            </a:r>
            <a:endParaRPr lang="en-US" sz="800" dirty="0"/>
          </a:p>
        </p:txBody>
      </p:sp>
      <p:sp>
        <p:nvSpPr>
          <p:cNvPr id="16" name="Text 12"/>
          <p:cNvSpPr txBox="1"/>
          <p:nvPr/>
        </p:nvSpPr>
        <p:spPr>
          <a:xfrm>
            <a:off x="1527048" y="2507285"/>
            <a:ext cx="5015484" cy="497000"/>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HP</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Shell</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UniCredit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PUMA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IBM</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CEVA Logistics</a:t>
            </a:r>
            <a:endParaRPr lang="en-US" sz="1100" dirty="0"/>
          </a:p>
        </p:txBody>
      </p:sp>
      <p:sp>
        <p:nvSpPr>
          <p:cNvPr id="17" name="Text 13"/>
          <p:cNvSpPr txBox="1"/>
          <p:nvPr/>
        </p:nvSpPr>
        <p:spPr>
          <a:xfrm>
            <a:off x="1527048" y="3081094"/>
            <a:ext cx="5015484" cy="2436795"/>
          </a:xfrm>
          <a:prstGeom prst="rect">
            <a:avLst/>
          </a:prstGeom>
          <a:noFill/>
          <a:ln/>
        </p:spPr>
        <p:txBody>
          <a:bodyPr wrap="square" lIns="0" tIns="0" rIns="0" bIns="0" rtlCol="0" anchor="ctr"/>
          <a:lstStyle/>
          <a:p>
            <a:pPr algn="ctr" indent="0" marL="0">
              <a:lnSpc>
                <a:spcPct val="100000"/>
              </a:lnSpc>
              <a:buNone/>
            </a:pPr>
            <a:r>
              <a:rPr lang="en-US" sz="1100" b="1" dirty="0">
                <a:solidFill>
                  <a:srgbClr val="000000"/>
                </a:solidFill>
              </a:rPr>
              <a:t>Ambipar</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Aon</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BingX</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Bitdefender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Chivas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DXC Technology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Ecopol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Espacio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Genesys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IVECO</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ManpowerGroup</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Marina Bay Sands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Mumm</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Peroni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Ray‑Ban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Richard Mille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S.Pellegrino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SkinCeuticals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Technogym</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Vantage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VistaJet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WHOOP</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ZCG</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ZYN</a:t>
            </a:r>
            <a:endParaRPr lang="en-US" sz="1100" dirty="0"/>
          </a:p>
        </p:txBody>
      </p:sp>
      <p:sp>
        <p:nvSpPr>
          <p:cNvPr id="18" name="Text 14"/>
          <p:cNvSpPr txBox="1"/>
          <p:nvPr/>
        </p:nvSpPr>
        <p:spPr>
          <a:xfrm>
            <a:off x="1527048" y="5594699"/>
            <a:ext cx="5015484" cy="511664"/>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BBS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Bell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Brembo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Garrett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NGK</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Öhlins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OMR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Pirelli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Riedel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Sabelt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SKF</a:t>
            </a:r>
            <a:endParaRPr lang="en-US" sz="1100" dirty="0"/>
          </a:p>
        </p:txBody>
      </p:sp>
      <p:sp>
        <p:nvSpPr>
          <p:cNvPr id="19" name="Shape 15"/>
          <p:cNvSpPr/>
          <p:nvPr/>
        </p:nvSpPr>
        <p:spPr>
          <a:xfrm>
            <a:off x="6606540" y="1773936"/>
            <a:ext cx="0" cy="4315968"/>
          </a:xfrm>
          <a:prstGeom prst="line">
            <a:avLst/>
          </a:prstGeom>
          <a:noFill/>
          <a:ln w="9525">
            <a:solidFill>
              <a:schemeClr val="accent6"/>
            </a:solidFill>
            <a:prstDash val="solid"/>
          </a:ln>
        </p:spPr>
      </p:sp>
      <p:pic>
        <p:nvPicPr>
          <p:cNvPr id="20" name="Image 1" descr="McLaren Mastercard logo">    </p:cNvPr>
          <p:cNvPicPr>
            <a:picLocks noChangeAspect="1"/>
          </p:cNvPicPr>
          <p:nvPr/>
        </p:nvPicPr>
        <p:blipFill>
          <a:blip r:embed="rId2"/>
          <a:stretch>
            <a:fillRect/>
          </a:stretch>
        </p:blipFill>
        <p:spPr>
          <a:xfrm>
            <a:off x="8393577" y="1783080"/>
            <a:ext cx="1569427" cy="457200"/>
          </a:xfrm>
          <a:prstGeom prst="rect">
            <a:avLst/>
          </a:prstGeom>
        </p:spPr>
      </p:pic>
      <p:sp>
        <p:nvSpPr>
          <p:cNvPr id="21" name="Text 16"/>
          <p:cNvSpPr txBox="1"/>
          <p:nvPr/>
        </p:nvSpPr>
        <p:spPr>
          <a:xfrm>
            <a:off x="6606540" y="2249424"/>
            <a:ext cx="514350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52 PARTNERS</a:t>
            </a:r>
            <a:endParaRPr lang="en-US" sz="800" dirty="0"/>
          </a:p>
        </p:txBody>
      </p:sp>
      <p:sp>
        <p:nvSpPr>
          <p:cNvPr id="22" name="Text 17"/>
          <p:cNvSpPr txBox="1"/>
          <p:nvPr/>
        </p:nvSpPr>
        <p:spPr>
          <a:xfrm>
            <a:off x="6670548" y="2507285"/>
            <a:ext cx="5015484" cy="497000"/>
          </a:xfrm>
          <a:prstGeom prst="rect">
            <a:avLst/>
          </a:prstGeom>
          <a:noFill/>
          <a:ln/>
        </p:spPr>
        <p:txBody>
          <a:bodyPr wrap="square" lIns="0" tIns="0" rIns="0" bIns="0" rtlCol="0" anchor="ctr"/>
          <a:lstStyle/>
          <a:p>
            <a:pPr algn="ctr" indent="0" marL="0">
              <a:lnSpc>
                <a:spcPct val="100000"/>
              </a:lnSpc>
              <a:buNone/>
            </a:pPr>
            <a:r>
              <a:rPr lang="en-US" sz="1100" b="1" dirty="0">
                <a:solidFill>
                  <a:srgbClr val="000000"/>
                </a:solidFill>
              </a:rPr>
              <a:t>Mastercard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British American Tobacco</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OKX</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Google</a:t>
            </a:r>
            <a:endParaRPr lang="en-US" sz="1100" dirty="0"/>
          </a:p>
        </p:txBody>
      </p:sp>
      <p:sp>
        <p:nvSpPr>
          <p:cNvPr id="23" name="Text 18"/>
          <p:cNvSpPr txBox="1"/>
          <p:nvPr/>
        </p:nvSpPr>
        <p:spPr>
          <a:xfrm>
            <a:off x="6670548" y="3081094"/>
            <a:ext cx="5015484" cy="2436795"/>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DP World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Dell Technologies</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FxPro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Etihad</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Airwallex</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AkzoNobel (Sikkens)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Allwyn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Alpinestars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Alteryx</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Arrow Electronics</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Ashurst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Cisco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CNBC</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Deloitte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Dropbox</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Ecolab</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Freshworks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Global</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Goldman Sachs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Greene Tweed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Groq</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C00000"/>
                </a:solidFill>
              </a:rPr>
              <a:t>Hedera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Hilton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Intel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Iron Mountain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Jack Daniel's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KAUST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LEGO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Liquid I.V.</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Medallia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Monster Energy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Motul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Okta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Optimum Nutrition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PUMA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Reiss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Richard Mille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Rubrik</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Schneider Electric</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SharkNinja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Smartsheet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Stanley Black &amp; Decker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T‑Mobile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TUMI</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Udemy</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Workday</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C00000"/>
                </a:solidFill>
              </a:rPr>
              <a:t>AbbVie</a:t>
            </a:r>
            <a:endParaRPr lang="en-US" sz="1100" dirty="0"/>
          </a:p>
        </p:txBody>
      </p:sp>
      <p:sp>
        <p:nvSpPr>
          <p:cNvPr id="24" name="Text 19"/>
          <p:cNvSpPr txBox="1"/>
          <p:nvPr/>
        </p:nvSpPr>
        <p:spPr>
          <a:xfrm>
            <a:off x="6670548" y="5594699"/>
            <a:ext cx="5015484" cy="511664"/>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Pirelli</a:t>
            </a:r>
            <a:endParaRPr lang="en-US" sz="1100" dirty="0"/>
          </a:p>
        </p:txBody>
      </p:sp>
      <p:sp>
        <p:nvSpPr>
          <p:cNvPr id="25" name="Shape 20"/>
          <p:cNvSpPr/>
          <p:nvPr/>
        </p:nvSpPr>
        <p:spPr>
          <a:xfrm>
            <a:off x="1444752" y="1700784"/>
            <a:ext cx="10323576" cy="4480560"/>
          </a:xfrm>
          <a:prstGeom prst="roundRect">
            <a:avLst>
              <a:gd name="adj" fmla="val 2449"/>
            </a:avLst>
          </a:prstGeom>
          <a:ln w="25400">
            <a:solidFill>
              <a:schemeClr val="accent5"/>
            </a:solidFill>
            <a:prstDash val="solid"/>
          </a:ln>
        </p:spPr>
      </p:sp>
      <p:sp>
        <p:nvSpPr>
          <p:cNvPr id="26" name="Text 21"/>
          <p:cNvSpPr txBox="1"/>
          <p:nvPr/>
        </p:nvSpPr>
        <p:spPr>
          <a:xfrm>
            <a:off x="438912" y="6272784"/>
            <a:ext cx="10058400" cy="219456"/>
          </a:xfrm>
          <a:prstGeom prst="rect">
            <a:avLst/>
          </a:prstGeom>
          <a:noFill/>
          <a:ln/>
        </p:spPr>
        <p:txBody>
          <a:bodyPr wrap="square" lIns="0" tIns="0" rIns="0" bIns="0" rtlCol="0" anchor="ctr"/>
          <a:lstStyle/>
          <a:p>
            <a:pPr indent="0" marL="0">
              <a:buNone/>
            </a:pPr>
            <a:r>
              <a:rPr lang="en-US" sz="900" b="1" dirty="0">
                <a:solidFill>
                  <a:srgbClr val="000000"/>
                </a:solidFill>
              </a:rPr>
              <a:t>Bold</a:t>
            </a:r>
            <a:pPr indent="0" marL="0">
              <a:buNone/>
            </a:pPr>
            <a:r>
              <a:rPr lang="en-US" sz="900" dirty="0">
                <a:solidFill>
                  <a:srgbClr val="404040"/>
                </a:solidFill>
              </a:rPr>
              <a:t> = Wolters Kluwer focus sectors (financial services, professional services, life sciences &amp; health)      </a:t>
            </a:r>
            <a:pPr indent="0" marL="0">
              <a:buNone/>
            </a:pPr>
            <a:r>
              <a:rPr lang="en-US" sz="900" b="1" dirty="0">
                <a:solidFill>
                  <a:srgbClr val="C00000"/>
                </a:solidFill>
              </a:rPr>
              <a:t>Red</a:t>
            </a:r>
            <a:pPr indent="0" marL="0">
              <a:buNone/>
            </a:pPr>
            <a:r>
              <a:rPr lang="en-US" sz="900" dirty="0">
                <a:solidFill>
                  <a:srgbClr val="404040"/>
                </a:solidFill>
              </a:rPr>
              <a:t> = partnership announced in 2026</a:t>
            </a:r>
            <a:endParaRPr lang="en-US" sz="90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38912" y="164592"/>
            <a:ext cx="8961120" cy="603504"/>
          </a:xfrm>
          <a:prstGeom prst="rect">
            <a:avLst/>
          </a:prstGeom>
          <a:noFill/>
          <a:ln/>
        </p:spPr>
        <p:txBody>
          <a:bodyPr wrap="square" lIns="0" tIns="0" rIns="0" bIns="0" rtlCol="0" anchor="ctr"/>
          <a:lstStyle/>
          <a:p>
            <a:pPr algn="l" indent="0" marL="0">
              <a:buNone/>
            </a:pPr>
            <a:r>
              <a:rPr lang="en-US" sz="3600" b="1" dirty="0">
                <a:solidFill>
                  <a:schemeClr val="accent1"/>
                </a:solidFill>
              </a:rPr>
              <a:t>PARTNER ECOSYSTEM</a:t>
            </a:r>
            <a:endParaRPr lang="en-US" sz="3600" dirty="0"/>
          </a:p>
        </p:txBody>
      </p:sp>
      <p:sp>
        <p:nvSpPr>
          <p:cNvPr id="3" name="Text 1"/>
          <p:cNvSpPr/>
          <p:nvPr>
            <p:ph idx="103" type="body" hasCustomPrompt="1"/>
          </p:nvPr>
        </p:nvSpPr>
        <p:spPr>
          <a:xfrm>
            <a:off x="438912" y="804672"/>
            <a:ext cx="10515600" cy="329184"/>
          </a:xfrm>
          <a:prstGeom prst="rect">
            <a:avLst/>
          </a:prstGeom>
          <a:noFill/>
          <a:ln/>
        </p:spPr>
        <p:txBody>
          <a:bodyPr wrap="square" lIns="0" tIns="0" rIns="0" bIns="0" rtlCol="0" anchor="ctr"/>
          <a:lstStyle/>
          <a:p>
            <a:pPr indent="0" marL="0">
              <a:buNone/>
            </a:pPr>
            <a:r>
              <a:rPr lang="en-US" sz="1500" b="1" i="1" spc="600" kern="0" dirty="0">
                <a:solidFill>
                  <a:schemeClr val="tx1"/>
                </a:solidFill>
              </a:rPr>
              <a:t>CURRENT TEAM PARTNERS, ALL SECTORS (3/4)</a:t>
            </a:r>
            <a:endParaRPr lang="en-US" sz="1500" dirty="0"/>
          </a:p>
        </p:txBody>
      </p:sp>
      <p:sp>
        <p:nvSpPr>
          <p:cNvPr id="4" name="Text 4"/>
          <p:cNvSpPr/>
          <p:nvPr>
            <p:ph idx="107" type="body" hasCustomPrompt="1"/>
          </p:nvPr>
        </p:nvSpPr>
        <p:spPr>
          <a:xfrm>
            <a:off x="438912" y="6547104"/>
            <a:ext cx="10332720" cy="201168"/>
          </a:xfrm>
          <a:prstGeom prst="rect">
            <a:avLst/>
          </a:prstGeom>
          <a:noFill/>
          <a:ln/>
        </p:spPr>
        <p:txBody>
          <a:bodyPr wrap="square" lIns="0" tIns="0" rIns="0" bIns="0" rtlCol="0" anchor="ctr"/>
          <a:lstStyle/>
          <a:p>
            <a:pPr indent="0" marL="0">
              <a:buNone/>
            </a:pPr>
            <a:r>
              <a:rPr lang="en-US" sz="750" dirty="0">
                <a:solidFill>
                  <a:schemeClr val="accent5"/>
                </a:solidFill>
              </a:rPr>
              <a:t>Source: official team partner pages (read 29 Oct 2026); f1salaries.com (30 Sep 2026) for Ferrari, McLaren and Cadillac; RTR Sports (6 Oct 2026) for F1. Tiers harmonised by SPORTFIVE; see Notes &amp; Sources.</a:t>
            </a:r>
            <a:endParaRPr lang="en-US" sz="750" dirty="0"/>
          </a:p>
        </p:txBody>
      </p:sp>
      <p:sp>
        <p:nvSpPr>
          <p:cNvPr id="6" name="Text 3"/>
          <p:cNvSpPr txBox="1"/>
          <p:nvPr/>
        </p:nvSpPr>
        <p:spPr>
          <a:xfrm>
            <a:off x="438912" y="2468880"/>
            <a:ext cx="932688" cy="502094"/>
          </a:xfrm>
          <a:prstGeom prst="rect">
            <a:avLst/>
          </a:prstGeom>
          <a:noFill/>
          <a:ln/>
        </p:spPr>
        <p:txBody>
          <a:bodyPr wrap="square" lIns="0" tIns="0" rIns="0" bIns="0" rtlCol="0" anchor="ctr"/>
          <a:lstStyle/>
          <a:p>
            <a:pPr algn="r" indent="0" marL="0">
              <a:buNone/>
            </a:pPr>
            <a:r>
              <a:rPr lang="en-US" sz="850" b="1" dirty="0">
                <a:solidFill>
                  <a:schemeClr val="tx1"/>
                </a:solidFill>
              </a:rPr>
              <a:t>TITLE /</a:t>
            </a:r>
            <a:endParaRPr lang="en-US" sz="850" dirty="0"/>
          </a:p>
          <a:p>
            <a:pPr algn="r" indent="0" marL="0">
              <a:buNone/>
            </a:pPr>
            <a:r>
              <a:rPr lang="en-US" sz="850" b="1" dirty="0">
                <a:solidFill>
                  <a:schemeClr val="tx1"/>
                </a:solidFill>
              </a:rPr>
              <a:t>PRINCIPAL</a:t>
            </a:r>
            <a:endParaRPr lang="en-US" sz="850" dirty="0"/>
          </a:p>
          <a:p>
            <a:pPr algn="r" indent="0" marL="0">
              <a:buNone/>
            </a:pPr>
            <a:r>
              <a:rPr lang="en-US" sz="850" b="1" dirty="0">
                <a:solidFill>
                  <a:schemeClr val="tx1"/>
                </a:solidFill>
              </a:rPr>
              <a:t>PARTNER</a:t>
            </a:r>
            <a:endParaRPr lang="en-US" sz="850" dirty="0"/>
          </a:p>
        </p:txBody>
      </p:sp>
      <p:sp>
        <p:nvSpPr>
          <p:cNvPr id="7" name="Text 4"/>
          <p:cNvSpPr txBox="1"/>
          <p:nvPr/>
        </p:nvSpPr>
        <p:spPr>
          <a:xfrm>
            <a:off x="438912" y="2970974"/>
            <a:ext cx="932688" cy="2012282"/>
          </a:xfrm>
          <a:prstGeom prst="rect">
            <a:avLst/>
          </a:prstGeom>
          <a:noFill/>
          <a:ln/>
        </p:spPr>
        <p:txBody>
          <a:bodyPr wrap="square" lIns="0" tIns="0" rIns="0" bIns="0" rtlCol="0" anchor="ctr"/>
          <a:lstStyle/>
          <a:p>
            <a:pPr algn="r" indent="0" marL="0">
              <a:buNone/>
            </a:pPr>
            <a:r>
              <a:rPr lang="en-US" sz="850" b="1" dirty="0">
                <a:solidFill>
                  <a:schemeClr val="tx1"/>
                </a:solidFill>
              </a:rPr>
              <a:t>OFFICIAL /</a:t>
            </a:r>
            <a:endParaRPr lang="en-US" sz="850" dirty="0"/>
          </a:p>
          <a:p>
            <a:pPr algn="r" indent="0" marL="0">
              <a:buNone/>
            </a:pPr>
            <a:r>
              <a:rPr lang="en-US" sz="850" b="1" dirty="0">
                <a:solidFill>
                  <a:schemeClr val="tx1"/>
                </a:solidFill>
              </a:rPr>
              <a:t>TEAM</a:t>
            </a:r>
            <a:endParaRPr lang="en-US" sz="850" dirty="0"/>
          </a:p>
          <a:p>
            <a:pPr algn="r" indent="0" marL="0">
              <a:buNone/>
            </a:pPr>
            <a:r>
              <a:rPr lang="en-US" sz="850" b="1" dirty="0">
                <a:solidFill>
                  <a:schemeClr val="tx1"/>
                </a:solidFill>
              </a:rPr>
              <a:t>PARTNER</a:t>
            </a:r>
            <a:endParaRPr lang="en-US" sz="850" dirty="0"/>
          </a:p>
        </p:txBody>
      </p:sp>
      <p:sp>
        <p:nvSpPr>
          <p:cNvPr id="8" name="Text 5"/>
          <p:cNvSpPr txBox="1"/>
          <p:nvPr/>
        </p:nvSpPr>
        <p:spPr>
          <a:xfrm>
            <a:off x="438912" y="4983257"/>
            <a:ext cx="932688" cy="1161511"/>
          </a:xfrm>
          <a:prstGeom prst="rect">
            <a:avLst/>
          </a:prstGeom>
          <a:noFill/>
          <a:ln/>
        </p:spPr>
        <p:txBody>
          <a:bodyPr wrap="square" lIns="0" tIns="0" rIns="0" bIns="0" rtlCol="0" anchor="ctr"/>
          <a:lstStyle/>
          <a:p>
            <a:pPr algn="r" indent="0" marL="0">
              <a:buNone/>
            </a:pPr>
            <a:r>
              <a:rPr lang="en-US" sz="850" b="1" dirty="0">
                <a:solidFill>
                  <a:schemeClr val="tx1"/>
                </a:solidFill>
              </a:rPr>
              <a:t>SUPPLIER /</a:t>
            </a:r>
            <a:endParaRPr lang="en-US" sz="850" dirty="0"/>
          </a:p>
          <a:p>
            <a:pPr algn="r" indent="0" marL="0">
              <a:buNone/>
            </a:pPr>
            <a:r>
              <a:rPr lang="en-US" sz="850" b="1" dirty="0">
                <a:solidFill>
                  <a:schemeClr val="tx1"/>
                </a:solidFill>
              </a:rPr>
              <a:t>REGIONAL /</a:t>
            </a:r>
            <a:endParaRPr lang="en-US" sz="850" dirty="0"/>
          </a:p>
          <a:p>
            <a:pPr algn="r" indent="0" marL="0">
              <a:buNone/>
            </a:pPr>
            <a:r>
              <a:rPr lang="en-US" sz="850" b="1" dirty="0">
                <a:solidFill>
                  <a:schemeClr val="tx1"/>
                </a:solidFill>
              </a:rPr>
              <a:t>LICENSEE</a:t>
            </a:r>
            <a:endParaRPr lang="en-US" sz="850" dirty="0"/>
          </a:p>
        </p:txBody>
      </p:sp>
      <p:sp>
        <p:nvSpPr>
          <p:cNvPr id="9" name="Text 6"/>
          <p:cNvSpPr txBox="1"/>
          <p:nvPr/>
        </p:nvSpPr>
        <p:spPr>
          <a:xfrm>
            <a:off x="1508760" y="1426464"/>
            <a:ext cx="10287000" cy="256032"/>
          </a:xfrm>
          <a:prstGeom prst="rect">
            <a:avLst/>
          </a:prstGeom>
          <a:noFill/>
          <a:ln/>
        </p:spPr>
        <p:txBody>
          <a:bodyPr wrap="square" lIns="0" tIns="0" rIns="0" bIns="0" rtlCol="0" anchor="ctr"/>
          <a:lstStyle/>
          <a:p>
            <a:pPr indent="0" marL="0">
              <a:buNone/>
            </a:pPr>
            <a:r>
              <a:rPr lang="en-US" sz="1200" b="1" dirty="0">
                <a:solidFill>
                  <a:schemeClr val="tx1"/>
                </a:solidFill>
              </a:rPr>
              <a:t>Challenger Teams</a:t>
            </a:r>
            <a:endParaRPr lang="en-US" sz="1200" dirty="0"/>
          </a:p>
        </p:txBody>
      </p:sp>
      <p:sp>
        <p:nvSpPr>
          <p:cNvPr id="10" name="Shape 7"/>
          <p:cNvSpPr/>
          <p:nvPr/>
        </p:nvSpPr>
        <p:spPr>
          <a:xfrm>
            <a:off x="1517904" y="2468880"/>
            <a:ext cx="10177272" cy="502094"/>
          </a:xfrm>
          <a:prstGeom prst="rect">
            <a:avLst/>
          </a:prstGeom>
          <a:solidFill>
            <a:schemeClr val="accent4"/>
          </a:solidFill>
          <a:ln w="12700">
            <a:solidFill>
              <a:schemeClr val="accent4"/>
            </a:solidFill>
            <a:prstDash val="solid"/>
          </a:ln>
        </p:spPr>
      </p:sp>
      <p:sp>
        <p:nvSpPr>
          <p:cNvPr id="11" name="Shape 8"/>
          <p:cNvSpPr/>
          <p:nvPr/>
        </p:nvSpPr>
        <p:spPr>
          <a:xfrm>
            <a:off x="1517904" y="2970974"/>
            <a:ext cx="10177272" cy="2012282"/>
          </a:xfrm>
          <a:prstGeom prst="rect">
            <a:avLst/>
          </a:prstGeom>
          <a:solidFill>
            <a:schemeClr val="bg1"/>
          </a:solidFill>
          <a:ln w="12700">
            <a:solidFill>
              <a:schemeClr val="bg1"/>
            </a:solidFill>
            <a:prstDash val="solid"/>
          </a:ln>
        </p:spPr>
      </p:sp>
      <p:sp>
        <p:nvSpPr>
          <p:cNvPr id="12" name="Shape 9"/>
          <p:cNvSpPr/>
          <p:nvPr/>
        </p:nvSpPr>
        <p:spPr>
          <a:xfrm>
            <a:off x="1517904" y="4983257"/>
            <a:ext cx="10177272" cy="1161511"/>
          </a:xfrm>
          <a:prstGeom prst="rect">
            <a:avLst/>
          </a:prstGeom>
          <a:solidFill>
            <a:schemeClr val="bg2"/>
          </a:solidFill>
          <a:ln w="12700">
            <a:solidFill>
              <a:schemeClr val="bg2"/>
            </a:solidFill>
            <a:prstDash val="solid"/>
          </a:ln>
        </p:spPr>
      </p:sp>
      <p:sp>
        <p:nvSpPr>
          <p:cNvPr id="13" name="Shape 10"/>
          <p:cNvSpPr/>
          <p:nvPr/>
        </p:nvSpPr>
        <p:spPr>
          <a:xfrm>
            <a:off x="1517904" y="2468880"/>
            <a:ext cx="10177272" cy="0"/>
          </a:xfrm>
          <a:prstGeom prst="line">
            <a:avLst/>
          </a:prstGeom>
          <a:noFill/>
          <a:ln w="12700">
            <a:solidFill>
              <a:schemeClr val="accent6"/>
            </a:solidFill>
            <a:prstDash val="solid"/>
          </a:ln>
        </p:spPr>
      </p:sp>
      <p:pic>
        <p:nvPicPr>
          <p:cNvPr id="14" name="Image 0" descr="BWT Alpine logo">    </p:cNvPr>
          <p:cNvPicPr>
            <a:picLocks noChangeAspect="1"/>
          </p:cNvPicPr>
          <p:nvPr/>
        </p:nvPicPr>
        <p:blipFill>
          <a:blip r:embed="rId1"/>
          <a:stretch>
            <a:fillRect/>
          </a:stretch>
        </p:blipFill>
        <p:spPr>
          <a:xfrm>
            <a:off x="2926566" y="1783080"/>
            <a:ext cx="501947" cy="457200"/>
          </a:xfrm>
          <a:prstGeom prst="rect">
            <a:avLst/>
          </a:prstGeom>
        </p:spPr>
      </p:pic>
      <p:sp>
        <p:nvSpPr>
          <p:cNvPr id="15" name="Text 11"/>
          <p:cNvSpPr txBox="1"/>
          <p:nvPr/>
        </p:nvSpPr>
        <p:spPr>
          <a:xfrm>
            <a:off x="1463040" y="2249424"/>
            <a:ext cx="342900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48 PARTNERS</a:t>
            </a:r>
            <a:endParaRPr lang="en-US" sz="800" dirty="0"/>
          </a:p>
        </p:txBody>
      </p:sp>
      <p:sp>
        <p:nvSpPr>
          <p:cNvPr id="16" name="Text 12"/>
          <p:cNvSpPr txBox="1"/>
          <p:nvPr/>
        </p:nvSpPr>
        <p:spPr>
          <a:xfrm>
            <a:off x="1527048" y="2507285"/>
            <a:ext cx="3300984" cy="425285"/>
          </a:xfrm>
          <a:prstGeom prst="rect">
            <a:avLst/>
          </a:prstGeom>
          <a:noFill/>
          <a:ln/>
        </p:spPr>
        <p:txBody>
          <a:bodyPr wrap="square" lIns="0" tIns="0" rIns="0" bIns="0" rtlCol="0" anchor="ctr"/>
          <a:lstStyle/>
          <a:p>
            <a:pPr algn="ctr" indent="0" marL="0">
              <a:lnSpc>
                <a:spcPct val="100000"/>
              </a:lnSpc>
              <a:buNone/>
            </a:pPr>
            <a:r>
              <a:rPr lang="en-US" sz="1000" dirty="0">
                <a:solidFill>
                  <a:srgbClr val="404040"/>
                </a:solidFill>
              </a:rPr>
              <a:t>BWT</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Eni</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MSC Cruises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H. Moser &amp; Cie.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C00000"/>
                </a:solidFill>
              </a:rPr>
              <a:t>Adobe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R5 Turbo 3E</a:t>
            </a:r>
            <a:endParaRPr lang="en-US" sz="1000" dirty="0"/>
          </a:p>
        </p:txBody>
      </p:sp>
      <p:sp>
        <p:nvSpPr>
          <p:cNvPr id="17" name="Text 13"/>
          <p:cNvSpPr txBox="1"/>
          <p:nvPr/>
        </p:nvSpPr>
        <p:spPr>
          <a:xfrm>
            <a:off x="1527048" y="3009379"/>
            <a:ext cx="3300984" cy="1935473"/>
          </a:xfrm>
          <a:prstGeom prst="rect">
            <a:avLst/>
          </a:prstGeom>
          <a:noFill/>
          <a:ln/>
        </p:spPr>
        <p:txBody>
          <a:bodyPr wrap="square" lIns="0" tIns="0" rIns="0" bIns="0" rtlCol="0" anchor="ctr"/>
          <a:lstStyle/>
          <a:p>
            <a:pPr algn="ctr" indent="0" marL="0">
              <a:lnSpc>
                <a:spcPct val="100000"/>
              </a:lnSpc>
              <a:buNone/>
            </a:pPr>
            <a:r>
              <a:rPr lang="en-US" sz="1000" b="1" dirty="0">
                <a:solidFill>
                  <a:srgbClr val="000000"/>
                </a:solidFill>
              </a:rPr>
              <a:t>AtkinsRéalis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Arctic Wolf</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Apex Ultra</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Avature</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Businessolver</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Castore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Cato Networks</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C00000"/>
                </a:solidFill>
              </a:rPr>
              <a:t>eToro</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Eurodatacar</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IndraMind</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Mercado Libre</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Mobilize Financial Services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MODO</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New Era</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OAKBERRY</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Qatar Airways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SEALSQ</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Shamir</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Skip</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Valvoline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The Venetian Resort</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viagogo</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Boeing</a:t>
            </a:r>
            <a:endParaRPr lang="en-US" sz="1000" dirty="0"/>
          </a:p>
        </p:txBody>
      </p:sp>
      <p:sp>
        <p:nvSpPr>
          <p:cNvPr id="18" name="Text 14"/>
          <p:cNvSpPr txBox="1"/>
          <p:nvPr/>
        </p:nvSpPr>
        <p:spPr>
          <a:xfrm>
            <a:off x="1527048" y="5021661"/>
            <a:ext cx="3300984" cy="1084702"/>
          </a:xfrm>
          <a:prstGeom prst="rect">
            <a:avLst/>
          </a:prstGeom>
          <a:noFill/>
          <a:ln/>
        </p:spPr>
        <p:txBody>
          <a:bodyPr wrap="square" lIns="0" tIns="0" rIns="0" bIns="0" rtlCol="0" anchor="ctr"/>
          <a:lstStyle/>
          <a:p>
            <a:pPr algn="ctr" indent="0" marL="0">
              <a:lnSpc>
                <a:spcPct val="100000"/>
              </a:lnSpc>
              <a:buNone/>
            </a:pPr>
            <a:r>
              <a:rPr lang="en-US" sz="1000" dirty="0">
                <a:solidFill>
                  <a:srgbClr val="404040"/>
                </a:solidFill>
              </a:rPr>
              <a:t>3D Systems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Alpinestars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Beforeyouspeak</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Built For Athletes</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JAAQ</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Delphi</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D3O</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HMN24</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Matrix</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LUMI</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M‑Experiment</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MISSION</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Pirelli</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Roland DG</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Trak Racer</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United Machining</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Endstate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The James Brand</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Perfect Moment</a:t>
            </a:r>
            <a:endParaRPr lang="en-US" sz="1000" dirty="0"/>
          </a:p>
        </p:txBody>
      </p:sp>
      <p:sp>
        <p:nvSpPr>
          <p:cNvPr id="19" name="Shape 15"/>
          <p:cNvSpPr/>
          <p:nvPr/>
        </p:nvSpPr>
        <p:spPr>
          <a:xfrm>
            <a:off x="4892040" y="1773936"/>
            <a:ext cx="0" cy="4315968"/>
          </a:xfrm>
          <a:prstGeom prst="line">
            <a:avLst/>
          </a:prstGeom>
          <a:noFill/>
          <a:ln w="9525">
            <a:solidFill>
              <a:schemeClr val="accent6"/>
            </a:solidFill>
            <a:prstDash val="solid"/>
          </a:ln>
        </p:spPr>
      </p:sp>
      <p:pic>
        <p:nvPicPr>
          <p:cNvPr id="20" name="Image 1" descr="Aston Martin Aramco logo">    </p:cNvPr>
          <p:cNvPicPr>
            <a:picLocks noChangeAspect="1"/>
          </p:cNvPicPr>
          <p:nvPr/>
        </p:nvPicPr>
        <p:blipFill>
          <a:blip r:embed="rId2"/>
          <a:stretch>
            <a:fillRect/>
          </a:stretch>
        </p:blipFill>
        <p:spPr>
          <a:xfrm>
            <a:off x="5876778" y="1783080"/>
            <a:ext cx="1459523" cy="457200"/>
          </a:xfrm>
          <a:prstGeom prst="rect">
            <a:avLst/>
          </a:prstGeom>
        </p:spPr>
      </p:pic>
      <p:sp>
        <p:nvSpPr>
          <p:cNvPr id="21" name="Text 16"/>
          <p:cNvSpPr txBox="1"/>
          <p:nvPr/>
        </p:nvSpPr>
        <p:spPr>
          <a:xfrm>
            <a:off x="4892040" y="2249424"/>
            <a:ext cx="342900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39 PARTNERS</a:t>
            </a:r>
            <a:endParaRPr lang="en-US" sz="800" dirty="0"/>
          </a:p>
        </p:txBody>
      </p:sp>
      <p:sp>
        <p:nvSpPr>
          <p:cNvPr id="22" name="Text 17"/>
          <p:cNvSpPr txBox="1"/>
          <p:nvPr/>
        </p:nvSpPr>
        <p:spPr>
          <a:xfrm>
            <a:off x="4956048" y="2507285"/>
            <a:ext cx="3300984" cy="425285"/>
          </a:xfrm>
          <a:prstGeom prst="rect">
            <a:avLst/>
          </a:prstGeom>
          <a:noFill/>
          <a:ln/>
        </p:spPr>
        <p:txBody>
          <a:bodyPr wrap="square" lIns="0" tIns="0" rIns="0" bIns="0" rtlCol="0" anchor="ctr"/>
          <a:lstStyle/>
          <a:p>
            <a:pPr algn="ctr" indent="0" marL="0">
              <a:lnSpc>
                <a:spcPct val="100000"/>
              </a:lnSpc>
              <a:buNone/>
            </a:pPr>
            <a:r>
              <a:rPr lang="en-US" sz="1000" dirty="0">
                <a:solidFill>
                  <a:srgbClr val="404040"/>
                </a:solidFill>
              </a:rPr>
              <a:t>Aramco</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Maaden</a:t>
            </a:r>
            <a:endParaRPr lang="en-US" sz="1000" dirty="0"/>
          </a:p>
        </p:txBody>
      </p:sp>
      <p:sp>
        <p:nvSpPr>
          <p:cNvPr id="23" name="Text 18"/>
          <p:cNvSpPr txBox="1"/>
          <p:nvPr/>
        </p:nvSpPr>
        <p:spPr>
          <a:xfrm>
            <a:off x="4956048" y="3009379"/>
            <a:ext cx="3300984" cy="1935473"/>
          </a:xfrm>
          <a:prstGeom prst="rect">
            <a:avLst/>
          </a:prstGeom>
          <a:noFill/>
          <a:ln/>
        </p:spPr>
        <p:txBody>
          <a:bodyPr wrap="square" lIns="0" tIns="0" rIns="0" bIns="0" rtlCol="0" anchor="ctr"/>
          <a:lstStyle/>
          <a:p>
            <a:pPr algn="ctr" indent="0" marL="0">
              <a:lnSpc>
                <a:spcPct val="100000"/>
              </a:lnSpc>
              <a:buNone/>
            </a:pPr>
            <a:r>
              <a:rPr lang="en-US" sz="1000" dirty="0">
                <a:solidFill>
                  <a:srgbClr val="404040"/>
                </a:solidFill>
              </a:rPr>
              <a:t>Honda</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Cognizant</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CoreWeave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Cohere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Arm</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Atlas Air</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BOSS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Breitling</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Celsius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Cognition</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Coinbase</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CoinPayments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Eight Sleep</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ELEMIS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Financial Times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Glenfiddich</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JCB</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Krown Produce</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Morrison Foerster</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NetApp</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NexGen</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Oakley</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Pepperstone</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Public</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PUMA</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Regent Seven Seas Cruises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ServiceNow</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TikTok</a:t>
            </a:r>
            <a:pPr algn="ctr" indent="0" marL="0">
              <a:lnSpc>
                <a:spcPct val="100000"/>
              </a:lnSpc>
              <a:buNone/>
            </a:pPr>
            <a:r>
              <a:rPr lang="en-US" sz="1000" dirty="0">
                <a:solidFill>
                  <a:srgbClr val="A6A6A6"/>
                </a:solidFill>
              </a:rPr>
              <a:t>  ·  </a:t>
            </a:r>
            <a:pPr algn="ctr" indent="0" marL="0">
              <a:lnSpc>
                <a:spcPct val="100000"/>
              </a:lnSpc>
              <a:buNone/>
            </a:pPr>
            <a:r>
              <a:rPr lang="en-US" sz="1000" b="1" dirty="0">
                <a:solidFill>
                  <a:srgbClr val="000000"/>
                </a:solidFill>
              </a:rPr>
              <a:t>UKG</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Valvoline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Velocity Black</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Xerox</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Zscaler</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BK8 News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BOXBOX</a:t>
            </a:r>
            <a:endParaRPr lang="en-US" sz="1000" dirty="0"/>
          </a:p>
        </p:txBody>
      </p:sp>
      <p:sp>
        <p:nvSpPr>
          <p:cNvPr id="24" name="Text 19"/>
          <p:cNvSpPr txBox="1"/>
          <p:nvPr/>
        </p:nvSpPr>
        <p:spPr>
          <a:xfrm>
            <a:off x="4956048" y="5021661"/>
            <a:ext cx="3300984" cy="1084702"/>
          </a:xfrm>
          <a:prstGeom prst="rect">
            <a:avLst/>
          </a:prstGeom>
          <a:noFill/>
          <a:ln/>
        </p:spPr>
        <p:txBody>
          <a:bodyPr wrap="square" lIns="0" tIns="0" rIns="0" bIns="0" rtlCol="0" anchor="ctr"/>
          <a:lstStyle/>
          <a:p>
            <a:pPr algn="ctr" indent="0" marL="0">
              <a:lnSpc>
                <a:spcPct val="100000"/>
              </a:lnSpc>
              <a:buNone/>
            </a:pPr>
            <a:r>
              <a:rPr lang="en-US" sz="1000" dirty="0">
                <a:solidFill>
                  <a:srgbClr val="404040"/>
                </a:solidFill>
              </a:rPr>
              <a:t>AQUAME</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Pirelli</a:t>
            </a:r>
            <a:endParaRPr lang="en-US" sz="1000" dirty="0"/>
          </a:p>
        </p:txBody>
      </p:sp>
      <p:sp>
        <p:nvSpPr>
          <p:cNvPr id="25" name="Shape 20"/>
          <p:cNvSpPr/>
          <p:nvPr/>
        </p:nvSpPr>
        <p:spPr>
          <a:xfrm>
            <a:off x="8321040" y="1773936"/>
            <a:ext cx="0" cy="4315968"/>
          </a:xfrm>
          <a:prstGeom prst="line">
            <a:avLst/>
          </a:prstGeom>
          <a:noFill/>
          <a:ln w="9525">
            <a:solidFill>
              <a:schemeClr val="accent6"/>
            </a:solidFill>
            <a:prstDash val="solid"/>
          </a:ln>
        </p:spPr>
      </p:sp>
      <p:pic>
        <p:nvPicPr>
          <p:cNvPr id="26" name="Image 2" descr="Cadillac logo">    </p:cNvPr>
          <p:cNvPicPr>
            <a:picLocks noChangeAspect="1"/>
          </p:cNvPicPr>
          <p:nvPr/>
        </p:nvPicPr>
        <p:blipFill>
          <a:blip r:embed="rId3"/>
          <a:stretch>
            <a:fillRect/>
          </a:stretch>
        </p:blipFill>
        <p:spPr>
          <a:xfrm>
            <a:off x="9606005" y="1783080"/>
            <a:ext cx="859070" cy="457200"/>
          </a:xfrm>
          <a:prstGeom prst="rect">
            <a:avLst/>
          </a:prstGeom>
        </p:spPr>
      </p:pic>
      <p:sp>
        <p:nvSpPr>
          <p:cNvPr id="27" name="Text 21"/>
          <p:cNvSpPr txBox="1"/>
          <p:nvPr/>
        </p:nvSpPr>
        <p:spPr>
          <a:xfrm>
            <a:off x="8321040" y="2249424"/>
            <a:ext cx="342900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11 PARTNERS</a:t>
            </a:r>
            <a:pPr algn="ctr" indent="0" marL="0">
              <a:buNone/>
            </a:pPr>
            <a:r>
              <a:rPr lang="en-US" sz="800" b="1" spc="100" kern="0" dirty="0">
                <a:solidFill>
                  <a:srgbClr val="595959"/>
                </a:solidFill>
              </a:rPr>
              <a:t>  ·  NEW TEAM 2026</a:t>
            </a:r>
            <a:endParaRPr lang="en-US" sz="800" dirty="0"/>
          </a:p>
        </p:txBody>
      </p:sp>
      <p:sp>
        <p:nvSpPr>
          <p:cNvPr id="28" name="Text 22"/>
          <p:cNvSpPr txBox="1"/>
          <p:nvPr/>
        </p:nvSpPr>
        <p:spPr>
          <a:xfrm>
            <a:off x="8385048" y="2507285"/>
            <a:ext cx="3300984" cy="425285"/>
          </a:xfrm>
          <a:prstGeom prst="rect">
            <a:avLst/>
          </a:prstGeom>
          <a:noFill/>
          <a:ln/>
        </p:spPr>
        <p:txBody>
          <a:bodyPr wrap="square" lIns="0" tIns="0" rIns="0" bIns="0" rtlCol="0" anchor="ctr"/>
          <a:lstStyle/>
          <a:p>
            <a:pPr algn="ctr" indent="0" marL="0">
              <a:lnSpc>
                <a:spcPct val="100000"/>
              </a:lnSpc>
              <a:buNone/>
            </a:pPr>
            <a:r>
              <a:rPr lang="en-US" sz="1000" dirty="0">
                <a:solidFill>
                  <a:srgbClr val="C00000"/>
                </a:solidFill>
              </a:rPr>
              <a:t>TWG AI</a:t>
            </a:r>
            <a:endParaRPr lang="en-US" sz="1000" dirty="0"/>
          </a:p>
        </p:txBody>
      </p:sp>
      <p:sp>
        <p:nvSpPr>
          <p:cNvPr id="29" name="Text 23"/>
          <p:cNvSpPr txBox="1"/>
          <p:nvPr/>
        </p:nvSpPr>
        <p:spPr>
          <a:xfrm>
            <a:off x="8385048" y="3009379"/>
            <a:ext cx="3300984" cy="1935473"/>
          </a:xfrm>
          <a:prstGeom prst="rect">
            <a:avLst/>
          </a:prstGeom>
          <a:noFill/>
          <a:ln/>
        </p:spPr>
        <p:txBody>
          <a:bodyPr wrap="square" lIns="0" tIns="0" rIns="0" bIns="0" rtlCol="0" anchor="ctr"/>
          <a:lstStyle/>
          <a:p>
            <a:pPr algn="ctr" indent="0" marL="0">
              <a:lnSpc>
                <a:spcPct val="100000"/>
              </a:lnSpc>
              <a:buNone/>
            </a:pPr>
            <a:r>
              <a:rPr lang="en-US" sz="1000" dirty="0">
                <a:solidFill>
                  <a:srgbClr val="C00000"/>
                </a:solidFill>
              </a:rPr>
              <a:t>Claro (América Móvil)</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Tommy Hilfiger</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C00000"/>
                </a:solidFill>
              </a:rPr>
              <a:t>Tenneco</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C00000"/>
                </a:solidFill>
              </a:rPr>
              <a:t>Core Scientific</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C00000"/>
                </a:solidFill>
              </a:rPr>
              <a:t>IFS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C00000"/>
                </a:solidFill>
              </a:rPr>
              <a:t>3M</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Jim Beam</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C00000"/>
                </a:solidFill>
              </a:rPr>
              <a:t>Frontieras</a:t>
            </a:r>
            <a:endParaRPr lang="en-US" sz="1000" dirty="0"/>
          </a:p>
        </p:txBody>
      </p:sp>
      <p:sp>
        <p:nvSpPr>
          <p:cNvPr id="30" name="Text 24"/>
          <p:cNvSpPr txBox="1"/>
          <p:nvPr/>
        </p:nvSpPr>
        <p:spPr>
          <a:xfrm>
            <a:off x="8385048" y="5021661"/>
            <a:ext cx="3300984" cy="1084702"/>
          </a:xfrm>
          <a:prstGeom prst="rect">
            <a:avLst/>
          </a:prstGeom>
          <a:noFill/>
          <a:ln/>
        </p:spPr>
        <p:txBody>
          <a:bodyPr wrap="square" lIns="0" tIns="0" rIns="0" bIns="0" rtlCol="0" anchor="ctr"/>
          <a:lstStyle/>
          <a:p>
            <a:pPr algn="ctr" indent="0" marL="0">
              <a:lnSpc>
                <a:spcPct val="100000"/>
              </a:lnSpc>
              <a:buNone/>
            </a:pPr>
            <a:r>
              <a:rPr lang="en-US" sz="1000" dirty="0">
                <a:solidFill>
                  <a:srgbClr val="404040"/>
                </a:solidFill>
              </a:rPr>
              <a:t>Alpinestars</a:t>
            </a:r>
            <a:pPr algn="ctr" indent="0" marL="0">
              <a:lnSpc>
                <a:spcPct val="100000"/>
              </a:lnSpc>
              <a:buNone/>
            </a:pPr>
            <a:r>
              <a:rPr lang="en-US" sz="1000" dirty="0">
                <a:solidFill>
                  <a:srgbClr val="A6A6A6"/>
                </a:solidFill>
              </a:rPr>
              <a:t>  ·  </a:t>
            </a:r>
            <a:pPr algn="ctr" indent="0" marL="0">
              <a:lnSpc>
                <a:spcPct val="100000"/>
              </a:lnSpc>
              <a:buNone/>
            </a:pPr>
            <a:r>
              <a:rPr lang="en-US" sz="1000" dirty="0">
                <a:solidFill>
                  <a:srgbClr val="404040"/>
                </a:solidFill>
              </a:rPr>
              <a:t>Pirelli</a:t>
            </a:r>
            <a:endParaRPr lang="en-US" sz="1000" dirty="0"/>
          </a:p>
        </p:txBody>
      </p:sp>
      <p:sp>
        <p:nvSpPr>
          <p:cNvPr id="31" name="Shape 25"/>
          <p:cNvSpPr/>
          <p:nvPr/>
        </p:nvSpPr>
        <p:spPr>
          <a:xfrm>
            <a:off x="1444752" y="1700784"/>
            <a:ext cx="10323576" cy="4480560"/>
          </a:xfrm>
          <a:prstGeom prst="roundRect">
            <a:avLst>
              <a:gd name="adj" fmla="val 2449"/>
            </a:avLst>
          </a:prstGeom>
          <a:ln w="25400">
            <a:solidFill>
              <a:schemeClr val="accent5"/>
            </a:solidFill>
            <a:prstDash val="solid"/>
          </a:ln>
        </p:spPr>
      </p:sp>
      <p:sp>
        <p:nvSpPr>
          <p:cNvPr id="32" name="Text 26"/>
          <p:cNvSpPr txBox="1"/>
          <p:nvPr/>
        </p:nvSpPr>
        <p:spPr>
          <a:xfrm>
            <a:off x="438912" y="6272784"/>
            <a:ext cx="10058400" cy="219456"/>
          </a:xfrm>
          <a:prstGeom prst="rect">
            <a:avLst/>
          </a:prstGeom>
          <a:noFill/>
          <a:ln/>
        </p:spPr>
        <p:txBody>
          <a:bodyPr wrap="square" lIns="0" tIns="0" rIns="0" bIns="0" rtlCol="0" anchor="ctr"/>
          <a:lstStyle/>
          <a:p>
            <a:pPr indent="0" marL="0">
              <a:buNone/>
            </a:pPr>
            <a:r>
              <a:rPr lang="en-US" sz="900" b="1" dirty="0">
                <a:solidFill>
                  <a:srgbClr val="000000"/>
                </a:solidFill>
              </a:rPr>
              <a:t>Bold</a:t>
            </a:r>
            <a:pPr indent="0" marL="0">
              <a:buNone/>
            </a:pPr>
            <a:r>
              <a:rPr lang="en-US" sz="900" dirty="0">
                <a:solidFill>
                  <a:srgbClr val="404040"/>
                </a:solidFill>
              </a:rPr>
              <a:t> = Wolters Kluwer focus sectors (financial services, professional services, life sciences &amp; health)      </a:t>
            </a:r>
            <a:pPr indent="0" marL="0">
              <a:buNone/>
            </a:pPr>
            <a:r>
              <a:rPr lang="en-US" sz="900" b="1" dirty="0">
                <a:solidFill>
                  <a:srgbClr val="C00000"/>
                </a:solidFill>
              </a:rPr>
              <a:t>Red</a:t>
            </a:r>
            <a:pPr indent="0" marL="0">
              <a:buNone/>
            </a:pPr>
            <a:r>
              <a:rPr lang="en-US" sz="900" dirty="0">
                <a:solidFill>
                  <a:srgbClr val="404040"/>
                </a:solidFill>
              </a:rPr>
              <a:t> = partnership announced in 2026</a:t>
            </a:r>
            <a:endParaRPr lang="en-US" sz="90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38912" y="164592"/>
            <a:ext cx="8961120" cy="603504"/>
          </a:xfrm>
          <a:prstGeom prst="rect">
            <a:avLst/>
          </a:prstGeom>
          <a:noFill/>
          <a:ln/>
        </p:spPr>
        <p:txBody>
          <a:bodyPr wrap="square" lIns="0" tIns="0" rIns="0" bIns="0" rtlCol="0" anchor="ctr"/>
          <a:lstStyle/>
          <a:p>
            <a:pPr algn="l" indent="0" marL="0">
              <a:buNone/>
            </a:pPr>
            <a:r>
              <a:rPr lang="en-US" sz="3600" b="1" dirty="0">
                <a:solidFill>
                  <a:schemeClr val="accent1"/>
                </a:solidFill>
              </a:rPr>
              <a:t>PARTNER ECOSYSTEM</a:t>
            </a:r>
            <a:endParaRPr lang="en-US" sz="3600" dirty="0"/>
          </a:p>
        </p:txBody>
      </p:sp>
      <p:sp>
        <p:nvSpPr>
          <p:cNvPr id="3" name="Text 1"/>
          <p:cNvSpPr/>
          <p:nvPr>
            <p:ph idx="103" type="body" hasCustomPrompt="1"/>
          </p:nvPr>
        </p:nvSpPr>
        <p:spPr>
          <a:xfrm>
            <a:off x="438912" y="804672"/>
            <a:ext cx="10515600" cy="329184"/>
          </a:xfrm>
          <a:prstGeom prst="rect">
            <a:avLst/>
          </a:prstGeom>
          <a:noFill/>
          <a:ln/>
        </p:spPr>
        <p:txBody>
          <a:bodyPr wrap="square" lIns="0" tIns="0" rIns="0" bIns="0" rtlCol="0" anchor="ctr"/>
          <a:lstStyle/>
          <a:p>
            <a:pPr indent="0" marL="0">
              <a:buNone/>
            </a:pPr>
            <a:r>
              <a:rPr lang="en-US" sz="1500" b="1" i="1" spc="600" kern="0" dirty="0">
                <a:solidFill>
                  <a:schemeClr val="tx1"/>
                </a:solidFill>
              </a:rPr>
              <a:t>CURRENT TEAM PARTNERS, ALL SECTORS (4/4)</a:t>
            </a:r>
            <a:endParaRPr lang="en-US" sz="1500" dirty="0"/>
          </a:p>
        </p:txBody>
      </p:sp>
      <p:sp>
        <p:nvSpPr>
          <p:cNvPr id="4" name="Text 4"/>
          <p:cNvSpPr/>
          <p:nvPr>
            <p:ph idx="107" type="body" hasCustomPrompt="1"/>
          </p:nvPr>
        </p:nvSpPr>
        <p:spPr>
          <a:xfrm>
            <a:off x="438912" y="6547104"/>
            <a:ext cx="10332720" cy="201168"/>
          </a:xfrm>
          <a:prstGeom prst="rect">
            <a:avLst/>
          </a:prstGeom>
          <a:noFill/>
          <a:ln/>
        </p:spPr>
        <p:txBody>
          <a:bodyPr wrap="square" lIns="0" tIns="0" rIns="0" bIns="0" rtlCol="0" anchor="ctr"/>
          <a:lstStyle/>
          <a:p>
            <a:pPr indent="0" marL="0">
              <a:buNone/>
            </a:pPr>
            <a:r>
              <a:rPr lang="en-US" sz="750" dirty="0">
                <a:solidFill>
                  <a:schemeClr val="accent5"/>
                </a:solidFill>
              </a:rPr>
              <a:t>Source: official team partner pages (read 29 Oct 2026); f1salaries.com (30 Sep 2026) for Ferrari, McLaren and Cadillac; RTR Sports (6 Oct 2026) for F1. Tiers harmonised by SPORTFIVE; see Notes &amp; Sources.</a:t>
            </a:r>
            <a:endParaRPr lang="en-US" sz="750" dirty="0"/>
          </a:p>
        </p:txBody>
      </p:sp>
      <p:sp>
        <p:nvSpPr>
          <p:cNvPr id="6" name="Text 3"/>
          <p:cNvSpPr txBox="1"/>
          <p:nvPr/>
        </p:nvSpPr>
        <p:spPr>
          <a:xfrm>
            <a:off x="438912" y="2468880"/>
            <a:ext cx="932688" cy="475821"/>
          </a:xfrm>
          <a:prstGeom prst="rect">
            <a:avLst/>
          </a:prstGeom>
          <a:noFill/>
          <a:ln/>
        </p:spPr>
        <p:txBody>
          <a:bodyPr wrap="square" lIns="0" tIns="0" rIns="0" bIns="0" rtlCol="0" anchor="ctr"/>
          <a:lstStyle/>
          <a:p>
            <a:pPr algn="r" indent="0" marL="0">
              <a:buNone/>
            </a:pPr>
            <a:r>
              <a:rPr lang="en-US" sz="850" b="1" dirty="0">
                <a:solidFill>
                  <a:schemeClr val="tx1"/>
                </a:solidFill>
              </a:rPr>
              <a:t>TITLE /</a:t>
            </a:r>
            <a:endParaRPr lang="en-US" sz="850" dirty="0"/>
          </a:p>
          <a:p>
            <a:pPr algn="r" indent="0" marL="0">
              <a:buNone/>
            </a:pPr>
            <a:r>
              <a:rPr lang="en-US" sz="850" b="1" dirty="0">
                <a:solidFill>
                  <a:schemeClr val="tx1"/>
                </a:solidFill>
              </a:rPr>
              <a:t>PRINCIPAL</a:t>
            </a:r>
            <a:endParaRPr lang="en-US" sz="850" dirty="0"/>
          </a:p>
          <a:p>
            <a:pPr algn="r" indent="0" marL="0">
              <a:buNone/>
            </a:pPr>
            <a:r>
              <a:rPr lang="en-US" sz="850" b="1" dirty="0">
                <a:solidFill>
                  <a:schemeClr val="tx1"/>
                </a:solidFill>
              </a:rPr>
              <a:t>PARTNER</a:t>
            </a:r>
            <a:endParaRPr lang="en-US" sz="850" dirty="0"/>
          </a:p>
        </p:txBody>
      </p:sp>
      <p:sp>
        <p:nvSpPr>
          <p:cNvPr id="7" name="Text 4"/>
          <p:cNvSpPr txBox="1"/>
          <p:nvPr/>
        </p:nvSpPr>
        <p:spPr>
          <a:xfrm>
            <a:off x="438912" y="2944701"/>
            <a:ext cx="932688" cy="2378334"/>
          </a:xfrm>
          <a:prstGeom prst="rect">
            <a:avLst/>
          </a:prstGeom>
          <a:noFill/>
          <a:ln/>
        </p:spPr>
        <p:txBody>
          <a:bodyPr wrap="square" lIns="0" tIns="0" rIns="0" bIns="0" rtlCol="0" anchor="ctr"/>
          <a:lstStyle/>
          <a:p>
            <a:pPr algn="r" indent="0" marL="0">
              <a:buNone/>
            </a:pPr>
            <a:r>
              <a:rPr lang="en-US" sz="850" b="1" dirty="0">
                <a:solidFill>
                  <a:schemeClr val="tx1"/>
                </a:solidFill>
              </a:rPr>
              <a:t>OFFICIAL /</a:t>
            </a:r>
            <a:endParaRPr lang="en-US" sz="850" dirty="0"/>
          </a:p>
          <a:p>
            <a:pPr algn="r" indent="0" marL="0">
              <a:buNone/>
            </a:pPr>
            <a:r>
              <a:rPr lang="en-US" sz="850" b="1" dirty="0">
                <a:solidFill>
                  <a:schemeClr val="tx1"/>
                </a:solidFill>
              </a:rPr>
              <a:t>TEAM</a:t>
            </a:r>
            <a:endParaRPr lang="en-US" sz="850" dirty="0"/>
          </a:p>
          <a:p>
            <a:pPr algn="r" indent="0" marL="0">
              <a:buNone/>
            </a:pPr>
            <a:r>
              <a:rPr lang="en-US" sz="850" b="1" dirty="0">
                <a:solidFill>
                  <a:schemeClr val="tx1"/>
                </a:solidFill>
              </a:rPr>
              <a:t>PARTNER</a:t>
            </a:r>
            <a:endParaRPr lang="en-US" sz="850" dirty="0"/>
          </a:p>
        </p:txBody>
      </p:sp>
      <p:sp>
        <p:nvSpPr>
          <p:cNvPr id="8" name="Text 5"/>
          <p:cNvSpPr txBox="1"/>
          <p:nvPr/>
        </p:nvSpPr>
        <p:spPr>
          <a:xfrm>
            <a:off x="438912" y="5323035"/>
            <a:ext cx="932688" cy="821733"/>
          </a:xfrm>
          <a:prstGeom prst="rect">
            <a:avLst/>
          </a:prstGeom>
          <a:noFill/>
          <a:ln/>
        </p:spPr>
        <p:txBody>
          <a:bodyPr wrap="square" lIns="0" tIns="0" rIns="0" bIns="0" rtlCol="0" anchor="ctr"/>
          <a:lstStyle/>
          <a:p>
            <a:pPr algn="r" indent="0" marL="0">
              <a:buNone/>
            </a:pPr>
            <a:r>
              <a:rPr lang="en-US" sz="850" b="1" dirty="0">
                <a:solidFill>
                  <a:schemeClr val="tx1"/>
                </a:solidFill>
              </a:rPr>
              <a:t>SUPPLIER /</a:t>
            </a:r>
            <a:endParaRPr lang="en-US" sz="850" dirty="0"/>
          </a:p>
          <a:p>
            <a:pPr algn="r" indent="0" marL="0">
              <a:buNone/>
            </a:pPr>
            <a:r>
              <a:rPr lang="en-US" sz="850" b="1" dirty="0">
                <a:solidFill>
                  <a:schemeClr val="tx1"/>
                </a:solidFill>
              </a:rPr>
              <a:t>REGIONAL /</a:t>
            </a:r>
            <a:endParaRPr lang="en-US" sz="850" dirty="0"/>
          </a:p>
          <a:p>
            <a:pPr algn="r" indent="0" marL="0">
              <a:buNone/>
            </a:pPr>
            <a:r>
              <a:rPr lang="en-US" sz="850" b="1" dirty="0">
                <a:solidFill>
                  <a:schemeClr val="tx1"/>
                </a:solidFill>
              </a:rPr>
              <a:t>LICENSEE</a:t>
            </a:r>
            <a:endParaRPr lang="en-US" sz="850" dirty="0"/>
          </a:p>
        </p:txBody>
      </p:sp>
      <p:sp>
        <p:nvSpPr>
          <p:cNvPr id="9" name="Text 6"/>
          <p:cNvSpPr txBox="1"/>
          <p:nvPr/>
        </p:nvSpPr>
        <p:spPr>
          <a:xfrm>
            <a:off x="1508760" y="1426464"/>
            <a:ext cx="10287000" cy="256032"/>
          </a:xfrm>
          <a:prstGeom prst="rect">
            <a:avLst/>
          </a:prstGeom>
          <a:noFill/>
          <a:ln/>
        </p:spPr>
        <p:txBody>
          <a:bodyPr wrap="square" lIns="0" tIns="0" rIns="0" bIns="0" rtlCol="0" anchor="ctr"/>
          <a:lstStyle/>
          <a:p>
            <a:pPr indent="0" marL="0">
              <a:buNone/>
            </a:pPr>
            <a:r>
              <a:rPr lang="en-US" sz="1200" b="1" dirty="0">
                <a:solidFill>
                  <a:schemeClr val="tx1"/>
                </a:solidFill>
              </a:rPr>
              <a:t>Challenger Teams</a:t>
            </a:r>
            <a:endParaRPr lang="en-US" sz="1200" dirty="0"/>
          </a:p>
        </p:txBody>
      </p:sp>
      <p:sp>
        <p:nvSpPr>
          <p:cNvPr id="10" name="Shape 7"/>
          <p:cNvSpPr/>
          <p:nvPr/>
        </p:nvSpPr>
        <p:spPr>
          <a:xfrm>
            <a:off x="1517904" y="2468880"/>
            <a:ext cx="10177272" cy="475821"/>
          </a:xfrm>
          <a:prstGeom prst="rect">
            <a:avLst/>
          </a:prstGeom>
          <a:solidFill>
            <a:schemeClr val="accent4"/>
          </a:solidFill>
          <a:ln w="12700">
            <a:solidFill>
              <a:schemeClr val="accent4"/>
            </a:solidFill>
            <a:prstDash val="solid"/>
          </a:ln>
        </p:spPr>
      </p:sp>
      <p:sp>
        <p:nvSpPr>
          <p:cNvPr id="11" name="Shape 8"/>
          <p:cNvSpPr/>
          <p:nvPr/>
        </p:nvSpPr>
        <p:spPr>
          <a:xfrm>
            <a:off x="1517904" y="2944701"/>
            <a:ext cx="10177272" cy="2378334"/>
          </a:xfrm>
          <a:prstGeom prst="rect">
            <a:avLst/>
          </a:prstGeom>
          <a:solidFill>
            <a:schemeClr val="bg1"/>
          </a:solidFill>
          <a:ln w="12700">
            <a:solidFill>
              <a:schemeClr val="bg1"/>
            </a:solidFill>
            <a:prstDash val="solid"/>
          </a:ln>
        </p:spPr>
      </p:sp>
      <p:sp>
        <p:nvSpPr>
          <p:cNvPr id="12" name="Shape 9"/>
          <p:cNvSpPr/>
          <p:nvPr/>
        </p:nvSpPr>
        <p:spPr>
          <a:xfrm>
            <a:off x="1517904" y="5323035"/>
            <a:ext cx="10177272" cy="821733"/>
          </a:xfrm>
          <a:prstGeom prst="rect">
            <a:avLst/>
          </a:prstGeom>
          <a:solidFill>
            <a:schemeClr val="bg2"/>
          </a:solidFill>
          <a:ln w="12700">
            <a:solidFill>
              <a:schemeClr val="bg2"/>
            </a:solidFill>
            <a:prstDash val="solid"/>
          </a:ln>
        </p:spPr>
      </p:sp>
      <p:sp>
        <p:nvSpPr>
          <p:cNvPr id="13" name="Shape 10"/>
          <p:cNvSpPr/>
          <p:nvPr/>
        </p:nvSpPr>
        <p:spPr>
          <a:xfrm>
            <a:off x="1517904" y="2468880"/>
            <a:ext cx="10177272" cy="0"/>
          </a:xfrm>
          <a:prstGeom prst="line">
            <a:avLst/>
          </a:prstGeom>
          <a:noFill/>
          <a:ln w="12700">
            <a:solidFill>
              <a:schemeClr val="accent6"/>
            </a:solidFill>
            <a:prstDash val="solid"/>
          </a:ln>
        </p:spPr>
      </p:sp>
      <p:pic>
        <p:nvPicPr>
          <p:cNvPr id="14" name="Image 0" descr="Audi Revolut logo">    </p:cNvPr>
          <p:cNvPicPr>
            <a:picLocks noChangeAspect="1"/>
          </p:cNvPicPr>
          <p:nvPr/>
        </p:nvPicPr>
        <p:blipFill>
          <a:blip r:embed="rId1"/>
          <a:stretch>
            <a:fillRect/>
          </a:stretch>
        </p:blipFill>
        <p:spPr>
          <a:xfrm>
            <a:off x="2500113" y="1783080"/>
            <a:ext cx="497604" cy="457200"/>
          </a:xfrm>
          <a:prstGeom prst="rect">
            <a:avLst/>
          </a:prstGeom>
        </p:spPr>
      </p:pic>
      <p:sp>
        <p:nvSpPr>
          <p:cNvPr id="15" name="Text 11"/>
          <p:cNvSpPr txBox="1"/>
          <p:nvPr/>
        </p:nvSpPr>
        <p:spPr>
          <a:xfrm>
            <a:off x="1463040" y="2249424"/>
            <a:ext cx="257175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26 PARTNERS</a:t>
            </a:r>
            <a:pPr algn="ctr" indent="0" marL="0">
              <a:buNone/>
            </a:pPr>
            <a:r>
              <a:rPr lang="en-US" sz="800" b="1" spc="100" kern="0" dirty="0">
                <a:solidFill>
                  <a:srgbClr val="595959"/>
                </a:solidFill>
              </a:rPr>
              <a:t>  ·  NEW TEAM 2026</a:t>
            </a:r>
            <a:endParaRPr lang="en-US" sz="800" dirty="0"/>
          </a:p>
        </p:txBody>
      </p:sp>
      <p:sp>
        <p:nvSpPr>
          <p:cNvPr id="16" name="Text 12"/>
          <p:cNvSpPr txBox="1"/>
          <p:nvPr/>
        </p:nvSpPr>
        <p:spPr>
          <a:xfrm>
            <a:off x="1527048" y="2507285"/>
            <a:ext cx="2443734" cy="399012"/>
          </a:xfrm>
          <a:prstGeom prst="rect">
            <a:avLst/>
          </a:prstGeom>
          <a:noFill/>
          <a:ln/>
        </p:spPr>
        <p:txBody>
          <a:bodyPr wrap="square" lIns="0" tIns="0" rIns="0" bIns="0" rtlCol="0" anchor="ctr"/>
          <a:lstStyle/>
          <a:p>
            <a:pPr algn="ctr" indent="0" marL="0">
              <a:lnSpc>
                <a:spcPct val="100000"/>
              </a:lnSpc>
              <a:buNone/>
            </a:pPr>
            <a:r>
              <a:rPr lang="en-US" sz="1100" b="1" dirty="0">
                <a:solidFill>
                  <a:srgbClr val="000000"/>
                </a:solidFill>
              </a:rPr>
              <a:t>Revolut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Visit Qatar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bp</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Castrol</a:t>
            </a:r>
            <a:endParaRPr lang="en-US" sz="1100" dirty="0"/>
          </a:p>
        </p:txBody>
      </p:sp>
      <p:sp>
        <p:nvSpPr>
          <p:cNvPr id="17" name="Text 13"/>
          <p:cNvSpPr txBox="1"/>
          <p:nvPr/>
        </p:nvSpPr>
        <p:spPr>
          <a:xfrm>
            <a:off x="1527048" y="2983106"/>
            <a:ext cx="2443734" cy="2301524"/>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adidas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Aleph</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C00000"/>
                </a:solidFill>
              </a:rPr>
              <a:t>Nexo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NinjaOne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Gillette (P&amp;G)</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Hyatt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Perk</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ic! berlin</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C00000"/>
                </a:solidFill>
              </a:rPr>
              <a:t>Libertex</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ElevenLabs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Camozzi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Piquadro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Extreme Networks</a:t>
            </a:r>
            <a:endParaRPr lang="en-US" sz="1100" dirty="0"/>
          </a:p>
        </p:txBody>
      </p:sp>
      <p:sp>
        <p:nvSpPr>
          <p:cNvPr id="18" name="Text 14"/>
          <p:cNvSpPr txBox="1"/>
          <p:nvPr/>
        </p:nvSpPr>
        <p:spPr>
          <a:xfrm>
            <a:off x="1527048" y="5361440"/>
            <a:ext cx="2443734" cy="744923"/>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Paulaner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Mammoet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Öhlins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Pirelli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Specialized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Bell Helmets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JigSpace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Glasurit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Sabelt</a:t>
            </a:r>
            <a:endParaRPr lang="en-US" sz="1100" dirty="0"/>
          </a:p>
        </p:txBody>
      </p:sp>
      <p:sp>
        <p:nvSpPr>
          <p:cNvPr id="19" name="Shape 15"/>
          <p:cNvSpPr/>
          <p:nvPr/>
        </p:nvSpPr>
        <p:spPr>
          <a:xfrm>
            <a:off x="4034790" y="1773936"/>
            <a:ext cx="0" cy="4315968"/>
          </a:xfrm>
          <a:prstGeom prst="line">
            <a:avLst/>
          </a:prstGeom>
          <a:noFill/>
          <a:ln w="9525">
            <a:solidFill>
              <a:schemeClr val="accent6"/>
            </a:solidFill>
            <a:prstDash val="solid"/>
          </a:ln>
        </p:spPr>
      </p:sp>
      <p:pic>
        <p:nvPicPr>
          <p:cNvPr id="20" name="Image 1" descr="TGR Haas logo">    </p:cNvPr>
          <p:cNvPicPr>
            <a:picLocks noChangeAspect="1"/>
          </p:cNvPicPr>
          <p:nvPr/>
        </p:nvPicPr>
        <p:blipFill>
          <a:blip r:embed="rId2"/>
          <a:stretch>
            <a:fillRect/>
          </a:stretch>
        </p:blipFill>
        <p:spPr>
          <a:xfrm>
            <a:off x="5063357" y="1783080"/>
            <a:ext cx="514616" cy="457200"/>
          </a:xfrm>
          <a:prstGeom prst="rect">
            <a:avLst/>
          </a:prstGeom>
        </p:spPr>
      </p:pic>
      <p:sp>
        <p:nvSpPr>
          <p:cNvPr id="21" name="Text 16"/>
          <p:cNvSpPr txBox="1"/>
          <p:nvPr/>
        </p:nvSpPr>
        <p:spPr>
          <a:xfrm>
            <a:off x="4034790" y="2249424"/>
            <a:ext cx="257175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27 PARTNERS</a:t>
            </a:r>
            <a:endParaRPr lang="en-US" sz="800" dirty="0"/>
          </a:p>
        </p:txBody>
      </p:sp>
      <p:sp>
        <p:nvSpPr>
          <p:cNvPr id="22" name="Text 17"/>
          <p:cNvSpPr txBox="1"/>
          <p:nvPr/>
        </p:nvSpPr>
        <p:spPr>
          <a:xfrm>
            <a:off x="4098798" y="2507285"/>
            <a:ext cx="2443734" cy="399012"/>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Toyota Gazoo Racing</a:t>
            </a:r>
            <a:endParaRPr lang="en-US" sz="1100" dirty="0"/>
          </a:p>
        </p:txBody>
      </p:sp>
      <p:sp>
        <p:nvSpPr>
          <p:cNvPr id="23" name="Text 18"/>
          <p:cNvSpPr txBox="1"/>
          <p:nvPr/>
        </p:nvSpPr>
        <p:spPr>
          <a:xfrm>
            <a:off x="4098798" y="2983106"/>
            <a:ext cx="2443734" cy="2301524"/>
          </a:xfrm>
          <a:prstGeom prst="rect">
            <a:avLst/>
          </a:prstGeom>
          <a:noFill/>
          <a:ln/>
        </p:spPr>
        <p:txBody>
          <a:bodyPr wrap="square" lIns="0" tIns="0" rIns="0" bIns="0" rtlCol="0" anchor="ctr"/>
          <a:lstStyle/>
          <a:p>
            <a:pPr algn="ctr" indent="0" marL="0">
              <a:lnSpc>
                <a:spcPct val="100000"/>
              </a:lnSpc>
              <a:buNone/>
            </a:pPr>
            <a:r>
              <a:rPr lang="en-US" sz="1100" b="1" dirty="0">
                <a:solidFill>
                  <a:srgbClr val="000000"/>
                </a:solidFill>
              </a:rPr>
              <a:t>IC Markets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Haas Automation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Play'n GO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Castore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CommScope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D.Energy</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Emburse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Exein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Fix Network</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HaasTooling.com</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Infobip</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MGM Rewards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Mphasis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NeverMile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New Era</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Orion180</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C00000"/>
                </a:solidFill>
              </a:rPr>
              <a:t>RUCKUS Networks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Singha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Taittinger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TravisMathew</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UChicago Medicine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Vellamo Water</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Zoomex</a:t>
            </a:r>
            <a:endParaRPr lang="en-US" sz="1100" dirty="0"/>
          </a:p>
        </p:txBody>
      </p:sp>
      <p:sp>
        <p:nvSpPr>
          <p:cNvPr id="24" name="Text 19"/>
          <p:cNvSpPr txBox="1"/>
          <p:nvPr/>
        </p:nvSpPr>
        <p:spPr>
          <a:xfrm>
            <a:off x="4098798" y="5361440"/>
            <a:ext cx="2443734" cy="744923"/>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Pirelli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Alpinestars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Schuberth</a:t>
            </a:r>
            <a:endParaRPr lang="en-US" sz="1100" dirty="0"/>
          </a:p>
        </p:txBody>
      </p:sp>
      <p:sp>
        <p:nvSpPr>
          <p:cNvPr id="25" name="Shape 20"/>
          <p:cNvSpPr/>
          <p:nvPr/>
        </p:nvSpPr>
        <p:spPr>
          <a:xfrm>
            <a:off x="6606540" y="1773936"/>
            <a:ext cx="0" cy="4315968"/>
          </a:xfrm>
          <a:prstGeom prst="line">
            <a:avLst/>
          </a:prstGeom>
          <a:noFill/>
          <a:ln w="9525">
            <a:solidFill>
              <a:schemeClr val="accent6"/>
            </a:solidFill>
            <a:prstDash val="solid"/>
          </a:ln>
        </p:spPr>
      </p:sp>
      <p:pic>
        <p:nvPicPr>
          <p:cNvPr id="26" name="Image 2" descr="Visa Cash App Racing Bulls logo">    </p:cNvPr>
          <p:cNvPicPr>
            <a:picLocks noChangeAspect="1"/>
          </p:cNvPicPr>
          <p:nvPr/>
        </p:nvPicPr>
        <p:blipFill>
          <a:blip r:embed="rId3"/>
          <a:stretch>
            <a:fillRect/>
          </a:stretch>
        </p:blipFill>
        <p:spPr>
          <a:xfrm>
            <a:off x="7238812" y="1783080"/>
            <a:ext cx="1307206" cy="457200"/>
          </a:xfrm>
          <a:prstGeom prst="rect">
            <a:avLst/>
          </a:prstGeom>
        </p:spPr>
      </p:pic>
      <p:sp>
        <p:nvSpPr>
          <p:cNvPr id="27" name="Text 21"/>
          <p:cNvSpPr txBox="1"/>
          <p:nvPr/>
        </p:nvSpPr>
        <p:spPr>
          <a:xfrm>
            <a:off x="6606540" y="2249424"/>
            <a:ext cx="257175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27 PARTNERS</a:t>
            </a:r>
            <a:endParaRPr lang="en-US" sz="800" dirty="0"/>
          </a:p>
        </p:txBody>
      </p:sp>
      <p:sp>
        <p:nvSpPr>
          <p:cNvPr id="28" name="Text 22"/>
          <p:cNvSpPr txBox="1"/>
          <p:nvPr/>
        </p:nvSpPr>
        <p:spPr>
          <a:xfrm>
            <a:off x="6670548" y="2507285"/>
            <a:ext cx="2443734" cy="399012"/>
          </a:xfrm>
          <a:prstGeom prst="rect">
            <a:avLst/>
          </a:prstGeom>
          <a:noFill/>
          <a:ln/>
        </p:spPr>
        <p:txBody>
          <a:bodyPr wrap="square" lIns="0" tIns="0" rIns="0" bIns="0" rtlCol="0" anchor="ctr"/>
          <a:lstStyle/>
          <a:p>
            <a:pPr algn="ctr" indent="0" marL="0">
              <a:lnSpc>
                <a:spcPct val="100000"/>
              </a:lnSpc>
              <a:buNone/>
            </a:pPr>
            <a:r>
              <a:rPr lang="en-US" sz="1100" b="1" dirty="0">
                <a:solidFill>
                  <a:srgbClr val="000000"/>
                </a:solidFill>
              </a:rPr>
              <a:t>Visa</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Cash App</a:t>
            </a:r>
            <a:endParaRPr lang="en-US" sz="1100" dirty="0"/>
          </a:p>
        </p:txBody>
      </p:sp>
      <p:sp>
        <p:nvSpPr>
          <p:cNvPr id="29" name="Text 23"/>
          <p:cNvSpPr txBox="1"/>
          <p:nvPr/>
        </p:nvSpPr>
        <p:spPr>
          <a:xfrm>
            <a:off x="6670548" y="2983106"/>
            <a:ext cx="2443734" cy="2301524"/>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TUDOR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HUGO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Ford Racing</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Nouryon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Mobil 1</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Salesforce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ThreatLocker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Introl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Confluent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NEFT Vodka</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XMTrading</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Airtasker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Octave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Dynatrace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Student.com</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Randstad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Siemens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HUGO Eyewear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Riedel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RebelDot</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Roboze</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Hahnair</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Floyd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Barilla</a:t>
            </a:r>
            <a:endParaRPr lang="en-US" sz="1100" dirty="0"/>
          </a:p>
        </p:txBody>
      </p:sp>
      <p:sp>
        <p:nvSpPr>
          <p:cNvPr id="30" name="Text 24"/>
          <p:cNvSpPr txBox="1"/>
          <p:nvPr/>
        </p:nvSpPr>
        <p:spPr>
          <a:xfrm>
            <a:off x="6670548" y="5361440"/>
            <a:ext cx="2443734" cy="744923"/>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Pirelli</a:t>
            </a:r>
            <a:endParaRPr lang="en-US" sz="1100" dirty="0"/>
          </a:p>
        </p:txBody>
      </p:sp>
      <p:sp>
        <p:nvSpPr>
          <p:cNvPr id="31" name="Shape 25"/>
          <p:cNvSpPr/>
          <p:nvPr/>
        </p:nvSpPr>
        <p:spPr>
          <a:xfrm>
            <a:off x="9178290" y="1773936"/>
            <a:ext cx="0" cy="4315968"/>
          </a:xfrm>
          <a:prstGeom prst="line">
            <a:avLst/>
          </a:prstGeom>
          <a:noFill/>
          <a:ln w="9525">
            <a:solidFill>
              <a:schemeClr val="accent6"/>
            </a:solidFill>
            <a:prstDash val="solid"/>
          </a:ln>
        </p:spPr>
      </p:sp>
      <p:pic>
        <p:nvPicPr>
          <p:cNvPr id="32" name="Image 3" descr="Atlassian Williams logo">    </p:cNvPr>
          <p:cNvPicPr>
            <a:picLocks noChangeAspect="1"/>
          </p:cNvPicPr>
          <p:nvPr/>
        </p:nvPicPr>
        <p:blipFill>
          <a:blip r:embed="rId4"/>
          <a:stretch>
            <a:fillRect/>
          </a:stretch>
        </p:blipFill>
        <p:spPr>
          <a:xfrm>
            <a:off x="10037243" y="1783080"/>
            <a:ext cx="853844" cy="457200"/>
          </a:xfrm>
          <a:prstGeom prst="rect">
            <a:avLst/>
          </a:prstGeom>
        </p:spPr>
      </p:pic>
      <p:sp>
        <p:nvSpPr>
          <p:cNvPr id="33" name="Text 26"/>
          <p:cNvSpPr txBox="1"/>
          <p:nvPr/>
        </p:nvSpPr>
        <p:spPr>
          <a:xfrm>
            <a:off x="9178290" y="2249424"/>
            <a:ext cx="2571750" cy="182880"/>
          </a:xfrm>
          <a:prstGeom prst="rect">
            <a:avLst/>
          </a:prstGeom>
          <a:noFill/>
          <a:ln/>
        </p:spPr>
        <p:txBody>
          <a:bodyPr wrap="square" lIns="0" tIns="0" rIns="0" bIns="0" rtlCol="0" anchor="ctr"/>
          <a:lstStyle/>
          <a:p>
            <a:pPr algn="ctr" indent="0" marL="0">
              <a:buNone/>
            </a:pPr>
            <a:r>
              <a:rPr lang="en-US" sz="800" b="1" spc="100" kern="0" dirty="0">
                <a:solidFill>
                  <a:srgbClr val="C00000"/>
                </a:solidFill>
              </a:rPr>
              <a:t>26 PARTNERS</a:t>
            </a:r>
            <a:endParaRPr lang="en-US" sz="800" dirty="0"/>
          </a:p>
        </p:txBody>
      </p:sp>
      <p:sp>
        <p:nvSpPr>
          <p:cNvPr id="34" name="Text 27"/>
          <p:cNvSpPr txBox="1"/>
          <p:nvPr/>
        </p:nvSpPr>
        <p:spPr>
          <a:xfrm>
            <a:off x="9242298" y="2507285"/>
            <a:ext cx="2443734" cy="399012"/>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Atlassian</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Barclays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Komatsu</a:t>
            </a:r>
            <a:endParaRPr lang="en-US" sz="1100" dirty="0"/>
          </a:p>
        </p:txBody>
      </p:sp>
      <p:sp>
        <p:nvSpPr>
          <p:cNvPr id="35" name="Text 28"/>
          <p:cNvSpPr txBox="1"/>
          <p:nvPr/>
        </p:nvSpPr>
        <p:spPr>
          <a:xfrm>
            <a:off x="9242298" y="2983106"/>
            <a:ext cx="2443734" cy="2301524"/>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Claude</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Kraken</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BNY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Gulf</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Betway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NMC</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VAST Data</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Stephens</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Wilkinson Sword</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Estrella Galicia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Duracell</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Jackpot City</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Airia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Brillio</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Keeper Security</a:t>
            </a:r>
            <a:pPr algn="ctr" indent="0" marL="0">
              <a:lnSpc>
                <a:spcPct val="100000"/>
              </a:lnSpc>
              <a:buNone/>
            </a:pPr>
            <a:r>
              <a:rPr lang="en-US" sz="1100" dirty="0">
                <a:solidFill>
                  <a:srgbClr val="A6A6A6"/>
                </a:solidFill>
              </a:rPr>
              <a:t>  ·  </a:t>
            </a:r>
            <a:pPr algn="ctr" indent="0" marL="0">
              <a:lnSpc>
                <a:spcPct val="100000"/>
              </a:lnSpc>
              <a:buNone/>
            </a:pPr>
            <a:r>
              <a:rPr lang="en-US" sz="1100" b="1" dirty="0">
                <a:solidFill>
                  <a:srgbClr val="000000"/>
                </a:solidFill>
              </a:rPr>
              <a:t>Nuveen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Zoox</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New Era</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Girard‑Perregaux</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Spinal Injuries Association</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M&amp;S</a:t>
            </a:r>
            <a:endParaRPr lang="en-US" sz="1100" dirty="0"/>
          </a:p>
        </p:txBody>
      </p:sp>
      <p:sp>
        <p:nvSpPr>
          <p:cNvPr id="36" name="Text 29"/>
          <p:cNvSpPr txBox="1"/>
          <p:nvPr/>
        </p:nvSpPr>
        <p:spPr>
          <a:xfrm>
            <a:off x="9242298" y="5361440"/>
            <a:ext cx="2443734" cy="744923"/>
          </a:xfrm>
          <a:prstGeom prst="rect">
            <a:avLst/>
          </a:prstGeom>
          <a:noFill/>
          <a:ln/>
        </p:spPr>
        <p:txBody>
          <a:bodyPr wrap="square" lIns="0" tIns="0" rIns="0" bIns="0" rtlCol="0" anchor="ctr"/>
          <a:lstStyle/>
          <a:p>
            <a:pPr algn="ctr" indent="0" marL="0">
              <a:lnSpc>
                <a:spcPct val="100000"/>
              </a:lnSpc>
              <a:buNone/>
            </a:pPr>
            <a:r>
              <a:rPr lang="en-US" sz="1100" dirty="0">
                <a:solidFill>
                  <a:srgbClr val="404040"/>
                </a:solidFill>
              </a:rPr>
              <a:t>Pirelli</a:t>
            </a:r>
            <a:pPr algn="ctr" indent="0" marL="0">
              <a:lnSpc>
                <a:spcPct val="100000"/>
              </a:lnSpc>
              <a:buNone/>
            </a:pPr>
            <a:r>
              <a:rPr lang="en-US" sz="1100" dirty="0">
                <a:solidFill>
                  <a:srgbClr val="A6A6A6"/>
                </a:solidFill>
              </a:rPr>
              <a:t>  ·  </a:t>
            </a:r>
            <a:pPr algn="ctr" indent="0" marL="0">
              <a:lnSpc>
                <a:spcPct val="100000"/>
              </a:lnSpc>
              <a:buNone/>
            </a:pPr>
            <a:r>
              <a:rPr lang="en-US" sz="1100" dirty="0">
                <a:solidFill>
                  <a:srgbClr val="404040"/>
                </a:solidFill>
              </a:rPr>
              <a:t>Sparco</a:t>
            </a:r>
            <a:endParaRPr lang="en-US" sz="1100" dirty="0"/>
          </a:p>
        </p:txBody>
      </p:sp>
      <p:sp>
        <p:nvSpPr>
          <p:cNvPr id="37" name="Shape 30"/>
          <p:cNvSpPr/>
          <p:nvPr/>
        </p:nvSpPr>
        <p:spPr>
          <a:xfrm>
            <a:off x="1444752" y="1700784"/>
            <a:ext cx="10323576" cy="4480560"/>
          </a:xfrm>
          <a:prstGeom prst="roundRect">
            <a:avLst>
              <a:gd name="adj" fmla="val 2449"/>
            </a:avLst>
          </a:prstGeom>
          <a:ln w="25400">
            <a:solidFill>
              <a:schemeClr val="accent5"/>
            </a:solidFill>
            <a:prstDash val="solid"/>
          </a:ln>
        </p:spPr>
      </p:sp>
      <p:sp>
        <p:nvSpPr>
          <p:cNvPr id="38" name="Text 31"/>
          <p:cNvSpPr txBox="1"/>
          <p:nvPr/>
        </p:nvSpPr>
        <p:spPr>
          <a:xfrm>
            <a:off x="438912" y="6272784"/>
            <a:ext cx="10058400" cy="219456"/>
          </a:xfrm>
          <a:prstGeom prst="rect">
            <a:avLst/>
          </a:prstGeom>
          <a:noFill/>
          <a:ln/>
        </p:spPr>
        <p:txBody>
          <a:bodyPr wrap="square" lIns="0" tIns="0" rIns="0" bIns="0" rtlCol="0" anchor="ctr"/>
          <a:lstStyle/>
          <a:p>
            <a:pPr indent="0" marL="0">
              <a:buNone/>
            </a:pPr>
            <a:r>
              <a:rPr lang="en-US" sz="900" b="1" dirty="0">
                <a:solidFill>
                  <a:srgbClr val="000000"/>
                </a:solidFill>
              </a:rPr>
              <a:t>Bold</a:t>
            </a:r>
            <a:pPr indent="0" marL="0">
              <a:buNone/>
            </a:pPr>
            <a:r>
              <a:rPr lang="en-US" sz="900" dirty="0">
                <a:solidFill>
                  <a:srgbClr val="404040"/>
                </a:solidFill>
              </a:rPr>
              <a:t> = Wolters Kluwer focus sectors (financial services, professional services, life sciences &amp; health)      </a:t>
            </a:r>
            <a:pPr indent="0" marL="0">
              <a:buNone/>
            </a:pPr>
            <a:r>
              <a:rPr lang="en-US" sz="900" b="1" dirty="0">
                <a:solidFill>
                  <a:srgbClr val="C00000"/>
                </a:solidFill>
              </a:rPr>
              <a:t>Red</a:t>
            </a:r>
            <a:pPr indent="0" marL="0">
              <a:buNone/>
            </a:pPr>
            <a:r>
              <a:rPr lang="en-US" sz="900" dirty="0">
                <a:solidFill>
                  <a:srgbClr val="404040"/>
                </a:solidFill>
              </a:rPr>
              <a:t> = partnership announced in 2026</a:t>
            </a:r>
            <a:endParaRPr lang="en-US" sz="90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38912" y="164592"/>
            <a:ext cx="8961120" cy="603504"/>
          </a:xfrm>
          <a:prstGeom prst="rect">
            <a:avLst/>
          </a:prstGeom>
          <a:noFill/>
          <a:ln/>
        </p:spPr>
        <p:txBody>
          <a:bodyPr wrap="square" lIns="0" tIns="0" rIns="0" bIns="0" rtlCol="0" anchor="ctr"/>
          <a:lstStyle/>
          <a:p>
            <a:pPr algn="l" indent="0" marL="0">
              <a:buNone/>
            </a:pPr>
            <a:r>
              <a:rPr lang="en-US" sz="3600" b="1" dirty="0">
                <a:solidFill>
                  <a:schemeClr val="accent1"/>
                </a:solidFill>
              </a:rPr>
              <a:t>NOTES &amp; SOURCES</a:t>
            </a:r>
            <a:endParaRPr lang="en-US" sz="3600" dirty="0"/>
          </a:p>
        </p:txBody>
      </p:sp>
      <p:sp>
        <p:nvSpPr>
          <p:cNvPr id="3" name="Text 1"/>
          <p:cNvSpPr/>
          <p:nvPr>
            <p:ph idx="103" type="body" hasCustomPrompt="1"/>
          </p:nvPr>
        </p:nvSpPr>
        <p:spPr>
          <a:xfrm>
            <a:off x="438912" y="804672"/>
            <a:ext cx="10515600" cy="329184"/>
          </a:xfrm>
          <a:prstGeom prst="rect">
            <a:avLst/>
          </a:prstGeom>
          <a:noFill/>
          <a:ln/>
        </p:spPr>
        <p:txBody>
          <a:bodyPr wrap="square" lIns="0" tIns="0" rIns="0" bIns="0" rtlCol="0" anchor="ctr"/>
          <a:lstStyle/>
          <a:p>
            <a:pPr indent="0" marL="0">
              <a:buNone/>
            </a:pPr>
            <a:r>
              <a:rPr lang="en-US" sz="1500" b="1" i="1" spc="600" kern="0" dirty="0">
                <a:solidFill>
                  <a:schemeClr val="tx1"/>
                </a:solidFill>
              </a:rPr>
              <a:t>HOW THIS LANDSCAPE WAS BUILT</a:t>
            </a:r>
            <a:endParaRPr lang="en-US" sz="1500" dirty="0"/>
          </a:p>
        </p:txBody>
      </p:sp>
      <p:sp>
        <p:nvSpPr>
          <p:cNvPr id="4" name="Text 4"/>
          <p:cNvSpPr/>
          <p:nvPr>
            <p:ph idx="107" type="body" hasCustomPrompt="1"/>
          </p:nvPr>
        </p:nvSpPr>
        <p:spPr>
          <a:xfrm>
            <a:off x="438912" y="6547104"/>
            <a:ext cx="10332720" cy="201168"/>
          </a:xfrm>
          <a:prstGeom prst="rect">
            <a:avLst/>
          </a:prstGeom>
          <a:noFill/>
          <a:ln/>
        </p:spPr>
        <p:txBody>
          <a:bodyPr wrap="square" lIns="0" tIns="0" rIns="0" bIns="0" rtlCol="0" anchor="ctr"/>
          <a:lstStyle/>
          <a:p>
            <a:pPr indent="0" marL="0">
              <a:buNone/>
            </a:pPr>
            <a:r>
              <a:rPr lang="en-US" sz="750" dirty="0">
                <a:solidFill>
                  <a:schemeClr val="accent5"/>
                </a:solidFill>
              </a:rPr>
              <a:t>Prepared by SPORTFIVE for Wolters Kluwer, October 2026.</a:t>
            </a:r>
            <a:endParaRPr lang="en-US" sz="750" dirty="0"/>
          </a:p>
        </p:txBody>
      </p:sp>
      <p:sp>
        <p:nvSpPr>
          <p:cNvPr id="6" name="Text 3"/>
          <p:cNvSpPr txBox="1"/>
          <p:nvPr/>
        </p:nvSpPr>
        <p:spPr>
          <a:xfrm>
            <a:off x="438912" y="1554480"/>
            <a:ext cx="1463040" cy="1005840"/>
          </a:xfrm>
          <a:prstGeom prst="rect">
            <a:avLst/>
          </a:prstGeom>
          <a:noFill/>
          <a:ln/>
        </p:spPr>
        <p:txBody>
          <a:bodyPr wrap="square" lIns="0" tIns="0" rIns="0" bIns="0" rtlCol="0" anchor="t"/>
          <a:lstStyle/>
          <a:p>
            <a:pPr indent="0" marL="0">
              <a:buNone/>
            </a:pPr>
            <a:r>
              <a:rPr lang="en-US" sz="1200" b="1" dirty="0">
                <a:solidFill>
                  <a:schemeClr val="accent1"/>
                </a:solidFill>
              </a:rPr>
              <a:t>SCOPE</a:t>
            </a:r>
            <a:endParaRPr lang="en-US" sz="1200" dirty="0"/>
          </a:p>
        </p:txBody>
      </p:sp>
      <p:sp>
        <p:nvSpPr>
          <p:cNvPr id="7" name="Text 4"/>
          <p:cNvSpPr txBox="1"/>
          <p:nvPr/>
        </p:nvSpPr>
        <p:spPr>
          <a:xfrm>
            <a:off x="1993392" y="1554480"/>
            <a:ext cx="5394960" cy="1051560"/>
          </a:xfrm>
          <a:prstGeom prst="rect">
            <a:avLst/>
          </a:prstGeom>
          <a:noFill/>
          <a:ln/>
        </p:spPr>
        <p:txBody>
          <a:bodyPr wrap="square" lIns="0" tIns="0" rIns="0" bIns="0" rtlCol="0" anchor="t"/>
          <a:lstStyle/>
          <a:p>
            <a:pPr indent="0" marL="0">
              <a:buNone/>
            </a:pPr>
            <a:r>
              <a:rPr lang="en-US" sz="1100" dirty="0">
                <a:solidFill>
                  <a:schemeClr val="tx1"/>
                </a:solidFill>
              </a:rPr>
              <a:t>All commercial partners listed for the 2026 season by the 11 teams and Formula 1, including suppliers and licensees. Counts are partners as each team lists them; sub-brands of one deal are counted once where the source does so (e.g. Google at McLaren).</a:t>
            </a:r>
            <a:endParaRPr lang="en-US" sz="1100" dirty="0"/>
          </a:p>
        </p:txBody>
      </p:sp>
      <p:sp>
        <p:nvSpPr>
          <p:cNvPr id="8" name="Text 5"/>
          <p:cNvSpPr txBox="1"/>
          <p:nvPr/>
        </p:nvSpPr>
        <p:spPr>
          <a:xfrm>
            <a:off x="438912" y="2670048"/>
            <a:ext cx="1463040" cy="1005840"/>
          </a:xfrm>
          <a:prstGeom prst="rect">
            <a:avLst/>
          </a:prstGeom>
          <a:noFill/>
          <a:ln/>
        </p:spPr>
        <p:txBody>
          <a:bodyPr wrap="square" lIns="0" tIns="0" rIns="0" bIns="0" rtlCol="0" anchor="t"/>
          <a:lstStyle/>
          <a:p>
            <a:pPr indent="0" marL="0">
              <a:buNone/>
            </a:pPr>
            <a:r>
              <a:rPr lang="en-US" sz="1200" b="1" dirty="0">
                <a:solidFill>
                  <a:schemeClr val="accent1"/>
                </a:solidFill>
              </a:rPr>
              <a:t>TIERS</a:t>
            </a:r>
            <a:endParaRPr lang="en-US" sz="1200" dirty="0"/>
          </a:p>
        </p:txBody>
      </p:sp>
      <p:sp>
        <p:nvSpPr>
          <p:cNvPr id="9" name="Text 6"/>
          <p:cNvSpPr txBox="1"/>
          <p:nvPr/>
        </p:nvSpPr>
        <p:spPr>
          <a:xfrm>
            <a:off x="1993392" y="2670048"/>
            <a:ext cx="5394960" cy="1051560"/>
          </a:xfrm>
          <a:prstGeom prst="rect">
            <a:avLst/>
          </a:prstGeom>
          <a:noFill/>
          <a:ln/>
        </p:spPr>
        <p:txBody>
          <a:bodyPr wrap="square" lIns="0" tIns="0" rIns="0" bIns="0" rtlCol="0" anchor="t"/>
          <a:lstStyle/>
          <a:p>
            <a:pPr indent="0" marL="0">
              <a:buNone/>
            </a:pPr>
            <a:r>
              <a:rPr lang="en-US" sz="1100" dirty="0">
                <a:solidFill>
                  <a:schemeClr val="tx1"/>
                </a:solidFill>
              </a:rPr>
              <a:t>Harmonised to three rows. Title / principal = naming, title, principal, premium and primary partners. Supplier / regional / licensee = partners the team labels as such. Red Bull, Williams, Haas and Racing Bulls do not label tiers: their title partners (and Visa at Red Bull, Barclays and Komatsu at Williams) are shown as principal, tyre and safety-equipment suppliers as suppliers, and all others as official / team partners.</a:t>
            </a:r>
            <a:endParaRPr lang="en-US" sz="1100" dirty="0"/>
          </a:p>
        </p:txBody>
      </p:sp>
      <p:sp>
        <p:nvSpPr>
          <p:cNvPr id="10" name="Text 7"/>
          <p:cNvSpPr txBox="1"/>
          <p:nvPr/>
        </p:nvSpPr>
        <p:spPr>
          <a:xfrm>
            <a:off x="438912" y="3785616"/>
            <a:ext cx="1463040" cy="1005840"/>
          </a:xfrm>
          <a:prstGeom prst="rect">
            <a:avLst/>
          </a:prstGeom>
          <a:noFill/>
          <a:ln/>
        </p:spPr>
        <p:txBody>
          <a:bodyPr wrap="square" lIns="0" tIns="0" rIns="0" bIns="0" rtlCol="0" anchor="t"/>
          <a:lstStyle/>
          <a:p>
            <a:pPr indent="0" marL="0">
              <a:buNone/>
            </a:pPr>
            <a:r>
              <a:rPr lang="en-US" sz="1200" b="1" dirty="0">
                <a:solidFill>
                  <a:schemeClr val="accent1"/>
                </a:solidFill>
              </a:rPr>
              <a:t>NEW IN 2026</a:t>
            </a:r>
            <a:endParaRPr lang="en-US" sz="1200" dirty="0"/>
          </a:p>
        </p:txBody>
      </p:sp>
      <p:sp>
        <p:nvSpPr>
          <p:cNvPr id="11" name="Text 8"/>
          <p:cNvSpPr txBox="1"/>
          <p:nvPr/>
        </p:nvSpPr>
        <p:spPr>
          <a:xfrm>
            <a:off x="1993392" y="3785616"/>
            <a:ext cx="5394960" cy="1051560"/>
          </a:xfrm>
          <a:prstGeom prst="rect">
            <a:avLst/>
          </a:prstGeom>
          <a:noFill/>
          <a:ln/>
        </p:spPr>
        <p:txBody>
          <a:bodyPr wrap="square" lIns="0" tIns="0" rIns="0" bIns="0" rtlCol="0" anchor="t"/>
          <a:lstStyle/>
          <a:p>
            <a:pPr indent="0" marL="0">
              <a:buNone/>
            </a:pPr>
            <a:r>
              <a:rPr lang="en-US" sz="1100" dirty="0">
                <a:solidFill>
                  <a:schemeClr val="tx1"/>
                </a:solidFill>
              </a:rPr>
              <a:t>Partnership publicly announced in calendar 2026 (to 29 Oct). Renewals and extensions are not marked.</a:t>
            </a:r>
            <a:endParaRPr lang="en-US" sz="1100" dirty="0"/>
          </a:p>
        </p:txBody>
      </p:sp>
      <p:sp>
        <p:nvSpPr>
          <p:cNvPr id="12" name="Text 9"/>
          <p:cNvSpPr txBox="1"/>
          <p:nvPr/>
        </p:nvSpPr>
        <p:spPr>
          <a:xfrm>
            <a:off x="438912" y="4901184"/>
            <a:ext cx="1463040" cy="1005840"/>
          </a:xfrm>
          <a:prstGeom prst="rect">
            <a:avLst/>
          </a:prstGeom>
          <a:noFill/>
          <a:ln/>
        </p:spPr>
        <p:txBody>
          <a:bodyPr wrap="square" lIns="0" tIns="0" rIns="0" bIns="0" rtlCol="0" anchor="t"/>
          <a:lstStyle/>
          <a:p>
            <a:pPr indent="0" marL="0">
              <a:buNone/>
            </a:pPr>
            <a:r>
              <a:rPr lang="en-US" sz="1200" b="1" dirty="0">
                <a:solidFill>
                  <a:schemeClr val="accent1"/>
                </a:solidFill>
              </a:rPr>
              <a:t>CAVEATS</a:t>
            </a:r>
            <a:endParaRPr lang="en-US" sz="1200" dirty="0"/>
          </a:p>
        </p:txBody>
      </p:sp>
      <p:sp>
        <p:nvSpPr>
          <p:cNvPr id="13" name="Text 10"/>
          <p:cNvSpPr txBox="1"/>
          <p:nvPr/>
        </p:nvSpPr>
        <p:spPr>
          <a:xfrm>
            <a:off x="1993392" y="4901184"/>
            <a:ext cx="5394960" cy="1051560"/>
          </a:xfrm>
          <a:prstGeom prst="rect">
            <a:avLst/>
          </a:prstGeom>
          <a:noFill/>
          <a:ln/>
        </p:spPr>
        <p:txBody>
          <a:bodyPr wrap="square" lIns="0" tIns="0" rIns="0" bIns="0" rtlCol="0" anchor="t"/>
          <a:lstStyle/>
          <a:p>
            <a:pPr indent="0" marL="0">
              <a:buNone/>
            </a:pPr>
            <a:r>
              <a:rPr lang="en-US" sz="1100" dirty="0">
                <a:solidFill>
                  <a:schemeClr val="tx1"/>
                </a:solidFill>
              </a:rPr>
              <a:t>Ferrari's, McLaren's and Cadillac's own partner pages could not be read, so these use f1salaries.com (30 Sep 2026), plus AbbVie (McLaren) and Frontieras (Cadillac), both announced in October. Gainbridge and UKG, shown for Cadillac in the September deck, are not on current lists.</a:t>
            </a:r>
            <a:endParaRPr lang="en-US" sz="1100" dirty="0"/>
          </a:p>
        </p:txBody>
      </p:sp>
      <p:sp>
        <p:nvSpPr>
          <p:cNvPr id="14" name="Text 11"/>
          <p:cNvSpPr txBox="1"/>
          <p:nvPr/>
        </p:nvSpPr>
        <p:spPr>
          <a:xfrm>
            <a:off x="7589520" y="1554480"/>
            <a:ext cx="4114800" cy="274320"/>
          </a:xfrm>
          <a:prstGeom prst="rect">
            <a:avLst/>
          </a:prstGeom>
          <a:noFill/>
          <a:ln/>
        </p:spPr>
        <p:txBody>
          <a:bodyPr wrap="square" lIns="0" tIns="0" rIns="0" bIns="0" rtlCol="0" anchor="ctr"/>
          <a:lstStyle/>
          <a:p>
            <a:pPr indent="0" marL="0">
              <a:buNone/>
            </a:pPr>
            <a:r>
              <a:rPr lang="en-US" sz="1100" b="1" dirty="0">
                <a:solidFill>
                  <a:schemeClr val="accent1"/>
                </a:solidFill>
              </a:rPr>
              <a:t>SOURCES BY TEAM</a:t>
            </a:r>
            <a:endParaRPr lang="en-US" sz="1100" dirty="0"/>
          </a:p>
        </p:txBody>
      </p:sp>
      <p:sp>
        <p:nvSpPr>
          <p:cNvPr id="15" name="Text 12"/>
          <p:cNvSpPr txBox="1"/>
          <p:nvPr/>
        </p:nvSpPr>
        <p:spPr>
          <a:xfrm>
            <a:off x="7589520" y="1874520"/>
            <a:ext cx="4160520" cy="4480560"/>
          </a:xfrm>
          <a:prstGeom prst="rect">
            <a:avLst/>
          </a:prstGeom>
          <a:noFill/>
          <a:ln/>
        </p:spPr>
        <p:txBody>
          <a:bodyPr wrap="square" lIns="0" tIns="0" rIns="0" bIns="0" rtlCol="0" anchor="t"/>
          <a:lstStyle/>
          <a:p>
            <a:pPr indent="0" marL="0">
              <a:spcAft>
                <a:spcPts val="300"/>
              </a:spcAft>
              <a:buNone/>
            </a:pPr>
            <a:r>
              <a:rPr lang="en-US" sz="950" b="1" dirty="0">
                <a:solidFill>
                  <a:schemeClr val="tx1"/>
                </a:solidFill>
              </a:rPr>
              <a:t>F1 (central): </a:t>
            </a:r>
            <a:pPr indent="0" marL="0">
              <a:spcAft>
                <a:spcPts val="300"/>
              </a:spcAft>
              <a:buNone/>
            </a:pPr>
            <a:r>
              <a:rPr lang="en-US" sz="950" dirty="0">
                <a:solidFill>
                  <a:schemeClr val="tx1"/>
                </a:solidFill>
              </a:rPr>
              <a:t>RTR Sports, F1 sponsors and partners (last updated 6 Oct 2026, checked against the official F1 roster)</a:t>
            </a:r>
            <a:endParaRPr lang="en-US" sz="950" dirty="0"/>
          </a:p>
          <a:p>
            <a:pPr indent="0" marL="0">
              <a:spcAft>
                <a:spcPts val="300"/>
              </a:spcAft>
              <a:buNone/>
            </a:pPr>
            <a:r>
              <a:rPr lang="en-US" sz="950" b="1" dirty="0">
                <a:solidFill>
                  <a:schemeClr val="tx1"/>
                </a:solidFill>
              </a:rPr>
              <a:t>Mercedes: </a:t>
            </a:r>
            <a:pPr indent="0" marL="0">
              <a:spcAft>
                <a:spcPts val="300"/>
              </a:spcAft>
              <a:buNone/>
            </a:pPr>
            <a:r>
              <a:rPr lang="en-US" sz="950" dirty="0">
                <a:solidFill>
                  <a:schemeClr val="tx1"/>
                </a:solidFill>
              </a:rPr>
              <a:t>mercedesamgf1.com/partners (official, read 29 Oct 2026)</a:t>
            </a:r>
            <a:endParaRPr lang="en-US" sz="950" dirty="0"/>
          </a:p>
          <a:p>
            <a:pPr indent="0" marL="0">
              <a:spcAft>
                <a:spcPts val="300"/>
              </a:spcAft>
              <a:buNone/>
            </a:pPr>
            <a:r>
              <a:rPr lang="en-US" sz="950" b="1" dirty="0">
                <a:solidFill>
                  <a:schemeClr val="tx1"/>
                </a:solidFill>
              </a:rPr>
              <a:t>Red Bull Racing: </a:t>
            </a:r>
            <a:pPr indent="0" marL="0">
              <a:spcAft>
                <a:spcPts val="300"/>
              </a:spcAft>
              <a:buNone/>
            </a:pPr>
            <a:r>
              <a:rPr lang="en-US" sz="950" dirty="0">
                <a:solidFill>
                  <a:schemeClr val="tx1"/>
                </a:solidFill>
              </a:rPr>
              <a:t>redbullracing.com/int-en/partners (official, read 29 Oct 2026)</a:t>
            </a:r>
            <a:endParaRPr lang="en-US" sz="950" dirty="0"/>
          </a:p>
          <a:p>
            <a:pPr indent="0" marL="0">
              <a:spcAft>
                <a:spcPts val="300"/>
              </a:spcAft>
              <a:buNone/>
            </a:pPr>
            <a:r>
              <a:rPr lang="en-US" sz="950" b="1" dirty="0">
                <a:solidFill>
                  <a:schemeClr val="tx1"/>
                </a:solidFill>
              </a:rPr>
              <a:t>Ferrari: </a:t>
            </a:r>
            <a:pPr indent="0" marL="0">
              <a:spcAft>
                <a:spcPts val="300"/>
              </a:spcAft>
              <a:buNone/>
            </a:pPr>
            <a:r>
              <a:rPr lang="en-US" sz="950" dirty="0">
                <a:solidFill>
                  <a:schemeClr val="tx1"/>
                </a:solidFill>
              </a:rPr>
              <a:t>f1salaries.com/sponsors/ferrari (last updated 30 Sep 2026); ferrari.com partner page unavailable</a:t>
            </a:r>
            <a:endParaRPr lang="en-US" sz="950" dirty="0"/>
          </a:p>
          <a:p>
            <a:pPr indent="0" marL="0">
              <a:spcAft>
                <a:spcPts val="300"/>
              </a:spcAft>
              <a:buNone/>
            </a:pPr>
            <a:r>
              <a:rPr lang="en-US" sz="950" b="1" dirty="0">
                <a:solidFill>
                  <a:schemeClr val="tx1"/>
                </a:solidFill>
              </a:rPr>
              <a:t>McLaren: </a:t>
            </a:r>
            <a:pPr indent="0" marL="0">
              <a:spcAft>
                <a:spcPts val="300"/>
              </a:spcAft>
              <a:buNone/>
            </a:pPr>
            <a:r>
              <a:rPr lang="en-US" sz="950" dirty="0">
                <a:solidFill>
                  <a:schemeClr val="tx1"/>
                </a:solidFill>
              </a:rPr>
              <a:t>f1salaries.com/sponsors/mclaren (last updated 30 Sep 2026) + AbbVie (Sportcal, 20 Oct 2026)</a:t>
            </a:r>
            <a:endParaRPr lang="en-US" sz="950" dirty="0"/>
          </a:p>
          <a:p>
            <a:pPr indent="0" marL="0">
              <a:spcAft>
                <a:spcPts val="300"/>
              </a:spcAft>
              <a:buNone/>
            </a:pPr>
            <a:r>
              <a:rPr lang="en-US" sz="950" b="1" dirty="0">
                <a:solidFill>
                  <a:schemeClr val="tx1"/>
                </a:solidFill>
              </a:rPr>
              <a:t>Alpine: </a:t>
            </a:r>
            <a:pPr indent="0" marL="0">
              <a:spcAft>
                <a:spcPts val="300"/>
              </a:spcAft>
              <a:buNone/>
            </a:pPr>
            <a:r>
              <a:rPr lang="en-US" sz="950" dirty="0">
                <a:solidFill>
                  <a:schemeClr val="tx1"/>
                </a:solidFill>
              </a:rPr>
              <a:t>alpinef1.com/partners (official, read 29 Oct 2026)</a:t>
            </a:r>
            <a:endParaRPr lang="en-US" sz="950" dirty="0"/>
          </a:p>
          <a:p>
            <a:pPr indent="0" marL="0">
              <a:spcAft>
                <a:spcPts val="300"/>
              </a:spcAft>
              <a:buNone/>
            </a:pPr>
            <a:r>
              <a:rPr lang="en-US" sz="950" b="1" dirty="0">
                <a:solidFill>
                  <a:schemeClr val="tx1"/>
                </a:solidFill>
              </a:rPr>
              <a:t>Aston Martin: </a:t>
            </a:r>
            <a:pPr indent="0" marL="0">
              <a:spcAft>
                <a:spcPts val="300"/>
              </a:spcAft>
              <a:buNone/>
            </a:pPr>
            <a:r>
              <a:rPr lang="en-US" sz="950" dirty="0">
                <a:solidFill>
                  <a:schemeClr val="tx1"/>
                </a:solidFill>
              </a:rPr>
              <a:t>astonmartinf1.com/en-GB/partners (official, read 29 Oct 2026); tiers from f1salaries (30 Sep 2026)</a:t>
            </a:r>
            <a:endParaRPr lang="en-US" sz="950" dirty="0"/>
          </a:p>
          <a:p>
            <a:pPr indent="0" marL="0">
              <a:spcAft>
                <a:spcPts val="300"/>
              </a:spcAft>
              <a:buNone/>
            </a:pPr>
            <a:r>
              <a:rPr lang="en-US" sz="950" b="1" dirty="0">
                <a:solidFill>
                  <a:schemeClr val="tx1"/>
                </a:solidFill>
              </a:rPr>
              <a:t>Cadillac: </a:t>
            </a:r>
            <a:pPr indent="0" marL="0">
              <a:spcAft>
                <a:spcPts val="300"/>
              </a:spcAft>
              <a:buNone/>
            </a:pPr>
            <a:r>
              <a:rPr lang="en-US" sz="950" dirty="0">
                <a:solidFill>
                  <a:schemeClr val="tx1"/>
                </a:solidFill>
              </a:rPr>
              <a:t>f1salaries.com/sponsors/cadillac (last updated 30 Sep 2026) and RTR Sports (5 Aug 2026) + Frontieras (23 Oct 2026); official page blocked</a:t>
            </a:r>
            <a:endParaRPr lang="en-US" sz="950" dirty="0"/>
          </a:p>
          <a:p>
            <a:pPr indent="0" marL="0">
              <a:spcAft>
                <a:spcPts val="300"/>
              </a:spcAft>
              <a:buNone/>
            </a:pPr>
            <a:r>
              <a:rPr lang="en-US" sz="950" b="1" dirty="0">
                <a:solidFill>
                  <a:schemeClr val="tx1"/>
                </a:solidFill>
              </a:rPr>
              <a:t>Audi: </a:t>
            </a:r>
            <a:pPr indent="0" marL="0">
              <a:spcAft>
                <a:spcPts val="300"/>
              </a:spcAft>
              <a:buNone/>
            </a:pPr>
            <a:r>
              <a:rPr lang="en-US" sz="950" dirty="0">
                <a:solidFill>
                  <a:schemeClr val="tx1"/>
                </a:solidFill>
              </a:rPr>
              <a:t>audif1.com/en/partners (official, read 29 Oct 2026)</a:t>
            </a:r>
            <a:endParaRPr lang="en-US" sz="950" dirty="0"/>
          </a:p>
          <a:p>
            <a:pPr indent="0" marL="0">
              <a:spcAft>
                <a:spcPts val="300"/>
              </a:spcAft>
              <a:buNone/>
            </a:pPr>
            <a:r>
              <a:rPr lang="en-US" sz="950" b="1" dirty="0">
                <a:solidFill>
                  <a:schemeClr val="tx1"/>
                </a:solidFill>
              </a:rPr>
              <a:t>Haas: </a:t>
            </a:r>
            <a:pPr indent="0" marL="0">
              <a:spcAft>
                <a:spcPts val="300"/>
              </a:spcAft>
              <a:buNone/>
            </a:pPr>
            <a:r>
              <a:rPr lang="en-US" sz="950" dirty="0">
                <a:solidFill>
                  <a:schemeClr val="tx1"/>
                </a:solidFill>
              </a:rPr>
              <a:t>haasf1team.com/partners (official, read 29 Oct 2026)</a:t>
            </a:r>
            <a:endParaRPr lang="en-US" sz="950" dirty="0"/>
          </a:p>
          <a:p>
            <a:pPr indent="0" marL="0">
              <a:spcAft>
                <a:spcPts val="300"/>
              </a:spcAft>
              <a:buNone/>
            </a:pPr>
            <a:r>
              <a:rPr lang="en-US" sz="950" b="1" dirty="0">
                <a:solidFill>
                  <a:schemeClr val="tx1"/>
                </a:solidFill>
              </a:rPr>
              <a:t>Racing Bulls: </a:t>
            </a:r>
            <a:pPr indent="0" marL="0">
              <a:spcAft>
                <a:spcPts val="300"/>
              </a:spcAft>
              <a:buNone/>
            </a:pPr>
            <a:r>
              <a:rPr lang="en-US" sz="950" dirty="0">
                <a:solidFill>
                  <a:schemeClr val="tx1"/>
                </a:solidFill>
              </a:rPr>
              <a:t>visacashapprb.com/int-en/partners (official, read 29 Oct 2026)</a:t>
            </a:r>
            <a:endParaRPr lang="en-US" sz="950" dirty="0"/>
          </a:p>
          <a:p>
            <a:pPr indent="0" marL="0">
              <a:spcAft>
                <a:spcPts val="300"/>
              </a:spcAft>
              <a:buNone/>
            </a:pPr>
            <a:r>
              <a:rPr lang="en-US" sz="950" b="1" dirty="0">
                <a:solidFill>
                  <a:schemeClr val="tx1"/>
                </a:solidFill>
              </a:rPr>
              <a:t>Williams: </a:t>
            </a:r>
            <a:pPr indent="0" marL="0">
              <a:spcAft>
                <a:spcPts val="300"/>
              </a:spcAft>
              <a:buNone/>
            </a:pPr>
            <a:r>
              <a:rPr lang="en-US" sz="950" dirty="0">
                <a:solidFill>
                  <a:schemeClr val="tx1"/>
                </a:solidFill>
              </a:rPr>
              <a:t>williamsf1.com/partners (official, read 29 Oct 2026)</a:t>
            </a:r>
            <a:endParaRPr lang="en-US" sz="950" dirty="0"/>
          </a:p>
        </p:txBody>
      </p:sp>
      <p:sp>
        <p:nvSpPr>
          <p:cNvPr id="25" name="Slide Number Placeholder 0"/>
          <p:cNvSpPr>
            <a:spLocks noGrp="1"/>
          </p:cNvSpPr>
          <p:nvPr>
            <p:ph type="sldNum" sz="quarter" idx="4294967295"/>
          </p:nvPr>
        </p:nvSpPr>
        <p:spPr>
          <a:xfrm>
            <a:off x="11292840"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SPORTFIVE">
  <a:themeElements>
    <a:clrScheme name="SPORTFIVE">
      <a:dk1>
        <a:srgbClr val="000000"/>
      </a:dk1>
      <a:lt1>
        <a:srgbClr val="FFFFFF"/>
      </a:lt1>
      <a:dk2>
        <a:srgbClr val="404040"/>
      </a:dk2>
      <a:lt2>
        <a:srgbClr val="EDEDED"/>
      </a:lt2>
      <a:accent1>
        <a:srgbClr val="C00000"/>
      </a:accent1>
      <a:accent2>
        <a:srgbClr val="595959"/>
      </a:accent2>
      <a:accent3>
        <a:srgbClr val="A6A6A6"/>
      </a:accent3>
      <a:accent4>
        <a:srgbClr val="FBE5D7"/>
      </a:accent4>
      <a:accent5>
        <a:srgbClr val="848484"/>
      </a:accent5>
      <a:accent6>
        <a:srgbClr val="D9D9D9"/>
      </a:accent6>
      <a:hlink>
        <a:srgbClr val="C00000"/>
      </a:hlink>
      <a:folHlink>
        <a:srgbClr val="7F0000"/>
      </a:folHlink>
    </a:clrScheme>
    <a:fontScheme name="SPORTFIV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SPORTFIVE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Partner Landscape 2026</dc:title>
  <dc:subject>PptxGenJS Presentation</dc:subject>
  <dc:creator>PptxGenJS</dc:creator>
  <cp:lastModifiedBy>PptxGenJS</cp:lastModifiedBy>
  <cp:revision>1</cp:revision>
  <dcterms:created xsi:type="dcterms:W3CDTF">2026-10-29T20:02:31Z</dcterms:created>
  <dcterms:modified xsi:type="dcterms:W3CDTF">2026-10-29T20:02:31Z</dcterms:modified>
</cp:coreProperties>
</file>