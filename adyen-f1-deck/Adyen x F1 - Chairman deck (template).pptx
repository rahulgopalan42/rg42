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29bfe7-12dd-d4b7-6072-c8157d6e5fec}">
          <p14:sldIdLst>
            <p14:sldId id="256"/>
            <p14:sldId id="257"/>
          </p14:sldIdLst>
        </p14:section>
        <p14:section name="Why Formula 1" id="{38309faa-9e7d-7ed0-b544-f0c2191c8770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ompetitive landscape" id="{7cd83f93-7e84-cf46-431d-f3f28dabeb6f}">
          <p14:sldIdLst>
            <p14:sldId id="264"/>
            <p14:sldId id="265"/>
            <p14:sldId id="266"/>
            <p14:sldId id="267"/>
          </p14:sldIdLst>
        </p14:section>
        <p14:section name="The opportunities" id="{ddf652b2-061b-2d8c-d231-2d7573b9694f}">
          <p14:sldIdLst>
            <p14:sldId id="268"/>
            <p14:sldId id="269"/>
            <p14:sldId id="270"/>
            <p14:sldId id="271"/>
            <p14:sldId id="272"/>
          </p14:sldIdLst>
        </p14:section>
        <p14:section name="Recommendation" id="{ca590804-8f47-39de-6136-088944650c34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Appendix" id="{729b643e-ab9f-9100-e480-62c4fa10d3af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F1 audience</c:v>
                </c:pt>
              </c:strCache>
            </c:strRef>
          </c:tx>
          <c:spPr>
            <a:solidFill>
              <a:srgbClr val="C9CFD6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11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478</c:v>
                </c:pt>
                <c:pt idx="1">
                  <c:v>495.1</c:v>
                </c:pt>
                <c:pt idx="2">
                  <c:v>546.6</c:v>
                </c:pt>
                <c:pt idx="3">
                  <c:v>577.5</c:v>
                </c:pt>
                <c:pt idx="4">
                  <c:v>625.3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011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B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F1 sponsorship deal value</c:v>
                </c:pt>
              </c:strCache>
            </c:strRef>
          </c:tx>
          <c:spPr>
            <a:solidFill>
              <a:srgbClr val="C9CFD6"/>
            </a:solidFill>
            <a:effectLst/>
          </c:spPr>
          <c:invertIfNegative val="0"/>
          <c:dLbls>
            <c:numFmt formatCode="&quot;$&quot;0.00&quot;B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11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0.893</c:v>
                </c:pt>
                <c:pt idx="1">
                  <c:v>1.007</c:v>
                </c:pt>
                <c:pt idx="2">
                  <c:v>1.751</c:v>
                </c:pt>
                <c:pt idx="3">
                  <c:v>1.2</c:v>
                </c:pt>
                <c:pt idx="4">
                  <c:v>0.982</c:v>
                </c:pt>
                <c:pt idx="5">
                  <c:v>2.368</c:v>
                </c:pt>
              </c:numCache>
            </c:numRef>
          </c:val>
        </c:ser>
        <c:dLbls>
          <c:numFmt formatCode="&quot;$&quot;0.00&quot;B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011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B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audience (M)</c:v>
                </c:pt>
              </c:strCache>
            </c:strRef>
          </c:tx>
          <c:spPr>
            <a:solidFill>
              <a:srgbClr val="0ABF5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0011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9CFD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ABF53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China  (+20.9%)</c:v>
                  </c:pt>
                  <c:pt idx="1">
                    <c:v>India  (+94.9%)</c:v>
                  </c:pt>
                  <c:pt idx="2">
                    <c:v>Brazil  (−2.2%)</c:v>
                  </c:pt>
                  <c:pt idx="3">
                    <c:v>United States  (+74.3%)</c:v>
                  </c:pt>
                  <c:pt idx="4">
                    <c:v>Mexico  (−2.2%)</c:v>
                  </c:pt>
                  <c:pt idx="5">
                    <c:v>United Kingdom  (+48.2%)</c:v>
                  </c:pt>
                  <c:pt idx="6">
                    <c:v>Germany  (+19.8%)</c:v>
                  </c:pt>
                  <c:pt idx="7">
                    <c:v>Italy  (+11.8%)</c:v>
                  </c:pt>
                  <c:pt idx="8">
                    <c:v>Spain  (+18.9%)</c:v>
                  </c:pt>
                  <c:pt idx="9">
                    <c:v>France  (+30.8%)</c:v>
                  </c:pt>
                  <c:pt idx="10">
                    <c:v>Japan  (+41.2%)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122.6</c:v>
                </c:pt>
                <c:pt idx="1">
                  <c:v>117.4</c:v>
                </c:pt>
                <c:pt idx="2">
                  <c:v>49.8</c:v>
                </c:pt>
                <c:pt idx="3">
                  <c:v>40.8</c:v>
                </c:pt>
                <c:pt idx="4">
                  <c:v>21.8</c:v>
                </c:pt>
                <c:pt idx="5">
                  <c:v>14.8</c:v>
                </c:pt>
                <c:pt idx="6">
                  <c:v>13.7</c:v>
                </c:pt>
                <c:pt idx="7">
                  <c:v>13.6</c:v>
                </c:pt>
                <c:pt idx="8">
                  <c:v>12</c:v>
                </c:pt>
                <c:pt idx="9">
                  <c:v>9.2</c:v>
                </c:pt>
                <c:pt idx="10">
                  <c:v>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50" u="none">
                  <a:solidFill>
                    <a:srgbClr val="0011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04B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Add a hero photo in the right-hand picture placeholder (click the icon). Replace the [ADD] fields with the chairman's name and meeting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one-page story for the chairman. Left: why F1 (four proof points, all from the BI work). Right: the recommendation and the ask, to be completed once the preferred route is agreed.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answers 'why F1 at all?' before any asset is discussed.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478.0M (2022) to 625.3M (2026), +30.8%, +147.3M followers; +8.3% vs 2025.
Sponsorship: total value of NEW deals, not annual sponsorship revenue. $0.89B (2020) to $2.37B (2025), +165.3%. 125 new deals in 2025 (+28.9% vs 2020). Average annual value $2.21M to $5.78M (+161.5%). 2020-2025 used because 2026 is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Indices are not percentages. Definitions: high income = highest income segment; owners/founders = own or founded a business; senior decision-makers = influence over workplace purchasing; large company employees = companies with 1,001-5,000 employees; early tech adopters = among the first to adopt new technologies.
Next-best sport: tennis on four measures, cycling on early tech adopters.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Europe: offices Amsterdam, Berlin, Brussels, London, Manchester, Madrid, Milan, Munich, Paris, Prague, Stockholm, Warsaw; races Portimão, Silverstone, Monaco, Spa-Francorchamps, Spielberg, Budapest, Monza, Madrid, Baku, Istanbul.
North America: offices San Francisco, Chicago, New York, Toronto, Mexico City; races Las Vegas, Austin, Miami, Montreal, Mexico City.
East Asia: offices Shanghai, Hong Kong, Tokyo; races Shanghai, Suzuka.
Southeast Asia: offices Kuala Lumpur, Singapore; races Singapore.
South America: offices São José dos Campos, São Paulo; races São Paulo.
India: offices Mumbai, Bengaluru; races none.
Middle East: offices Dubai; races Sakhir, Jeddah, Lusail, Abu Dhabi.
Australia: offices Sydney; races Melbourne.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22 Adyen office markets: combined F1 audience 457.2M in 2026 vs 342.3M in 2022 (+33.6%). 13 of 22 host a 2027 race (59%). Chart shows the 11 largest; the other 11 (Malaysia, Canada, Australia, Poland, Netherlands, UAE, Belgium, Czechia, Sweden, Singapore, Hong Kong) add 34.4M. Fastest growth: India +94.9%, Australia +85.2%, US +74.3%, Canada +62.1%.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of section 1. Each card pairs something Adyen needs from a partnership with the evidence that F1 delivers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shows the category is moving: competitors are in, and the benchmark has shifted from logos to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Stripe and Airwallex compete with Adyen directly. Visa and Mastercard are card schemes and Adyen partners; Mastercard and Airwallex already sit side by side at McLaren, which shows scheme and platform partners can co-exist.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by column: F1 2, football 11, US leagues &amp; college 12, other sport &amp; venues 7 (32 properties in total). Football includes MLS clubs. 'Other' covers golf, tennis, Australian football and venues.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benchmark Mark's brief sets: a payments brand inside the team's business. Add Airwallex results if you have verified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is for the asset content your team will add. Each route uses the same structure so the chairman can compare like for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each field in one line. Keep the same order as the detail slides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slide for Alpine F1 Team. Add a photo on the left, three headline numbers, the case for the asset, and an honest read against each of the five criteria from Adyen's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slide for Scuderia Ferrari. Add a photo on the left, three headline numbers, the case for the asset, and an honest read against each of the five criteria from Adyen's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slide for Max Verstappen. Add a photo on the left, three headline numbers, the case for the asset, and an honest read against each of the five criteria from Adyen's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closes the case: which asset, why, where Adyen sits in the business, what it costs and what happens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each route ● strong, ◐ partial, ○ weak, with a few words of evidence in each cell. Criteria rows 1-5 come straight from Adyen's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first, not a logo deal. Replace each [ADD] with the specific commerce flows, KPIs, races and partners agreed with the rights-holder.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four numbers the chairman will ask for. Right: proof that Adyen already drives revenue in 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rights in one line per row. The right-hand column is the important one: tie every right back to Adyen's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 guidance from Adyen: $10M a year is defensible, $20M needs a very strong case, and a $5-7M option shows how it works. The dashed line marks the average annual value of a new F1 sponsorship deal in 2025 ($5.78M).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slide: it answers 'where does that number come from?'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chemeClr val="accent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1928" y="2926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3566160"/>
            <a:ext cx="5790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Cover photo</a:t>
            </a:r>
            <a:endParaRPr lang="en-US" sz="1200" dirty="0"/>
          </a:p>
        </p:txBody>
      </p:sp>
      <p:sp>
        <p:nvSpPr>
          <p:cNvPr id="5" name="Text 2"/>
          <p:cNvSpPr/>
          <p:nvPr>
            <p:ph type="pic" idx="103" hasCustomPrompt="1"/>
          </p:nvPr>
        </p:nvSpPr>
        <p:spPr>
          <a:xfrm>
            <a:off x="6400800" y="0"/>
            <a:ext cx="57908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bg1"/>
                </a:solidFill>
              </a:rPr>
              <a:t>Add cover photo (car, race or Adyen at the track)</a:t>
            </a: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EYEBROW</a:t>
            </a:r>
            <a:endParaRPr lang="en-US" sz="12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548640" y="1965960"/>
            <a:ext cx="5669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Title</a:t>
            </a:r>
            <a:endParaRPr lang="en-US" sz="54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48640" y="397764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Subtitle</a:t>
            </a:r>
            <a:endParaRPr lang="en-US" sz="18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548640" y="4983480"/>
            <a:ext cx="5394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Prepared for · date</a:t>
            </a:r>
            <a:endParaRPr lang="en-US" sz="1200" dirty="0"/>
          </a:p>
        </p:txBody>
      </p:sp>
      <p:pic>
        <p:nvPicPr>
          <p:cNvPr id="10" name="Image 1" descr="Adyen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89320"/>
            <a:ext cx="1024128" cy="329184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1810512" y="5989320"/>
            <a:ext cx="0" cy="329184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pic>
        <p:nvPicPr>
          <p:cNvPr id="12" name="Image 2" descr="SPORTFIV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053328"/>
            <a:ext cx="1097280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7772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this section answers</a:t>
            </a:r>
            <a:endParaRPr lang="en-US" sz="1800" dirty="0"/>
          </a:p>
        </p:txBody>
      </p:sp>
      <p:pic>
        <p:nvPicPr>
          <p:cNvPr id="5" name="Image 0" descr="Ady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927" y="502920"/>
            <a:ext cx="1024128" cy="329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SECTION · TOPIC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Action title: the one thing this slide proves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</a:t>
            </a:r>
            <a:endParaRPr lang="en-US" sz="900" dirty="0"/>
          </a:p>
        </p:txBody>
      </p:sp>
      <p:pic>
        <p:nvPicPr>
          <p:cNvPr id="5" name="Image 0" descr="Ady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82512"/>
            <a:ext cx="621792" cy="2011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HO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926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566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Photo of the asset</a:t>
            </a:r>
            <a:endParaRPr lang="en-US" sz="1200" dirty="0"/>
          </a:p>
        </p:txBody>
      </p:sp>
      <p:sp>
        <p:nvSpPr>
          <p:cNvPr id="5" name="Text 2"/>
          <p:cNvSpPr/>
          <p:nvPr>
            <p:ph type="pic" idx="103" hasCustomPrompt="1"/>
          </p:nvPr>
        </p:nvSpPr>
        <p:spPr>
          <a:xfrm>
            <a:off x="0" y="0"/>
            <a:ext cx="443484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Add photo of the asset</a:t>
            </a: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892040" y="384048"/>
            <a:ext cx="67510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SECTION · TOPIC</a:t>
            </a:r>
            <a:endParaRPr lang="en-US" sz="11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4892040" y="685800"/>
            <a:ext cx="67510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Action title: the one thing this slide proves</a:t>
            </a:r>
            <a:endParaRPr lang="en-US" sz="2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892040" y="6382512"/>
            <a:ext cx="48006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</a:t>
            </a:r>
            <a:endParaRPr lang="en-US" sz="900" dirty="0"/>
          </a:p>
        </p:txBody>
      </p:sp>
      <p:pic>
        <p:nvPicPr>
          <p:cNvPr id="9" name="Image 1" descr="Adyen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382512"/>
            <a:ext cx="621792" cy="2011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body" hasCustomPrompt="1"/>
          </p:nvPr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PARTNERSHIP PROPOSAL</a:t>
            </a:r>
            <a:endParaRPr lang="en-US" sz="12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548640" y="196596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Adyen ×</a:t>
            </a:r>
            <a:endParaRPr lang="en-US" sz="5400" dirty="0"/>
          </a:p>
          <a:p>
            <a:pPr algn="l" indent="0" marL="0">
              <a:buNone/>
            </a:pPr>
            <a:r>
              <a:rPr lang="en-US" sz="5400" dirty="0">
                <a:solidFill>
                  <a:schemeClr val="accent1"/>
                </a:solidFill>
              </a:rPr>
              <a:t>Formula 1</a:t>
            </a:r>
            <a:endParaRPr lang="en-US" sz="54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548640" y="3977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Why F1 is the right platform for Adyen, and how to win in it</a:t>
            </a:r>
            <a:endParaRPr lang="en-US" sz="1800" dirty="0"/>
          </a:p>
        </p:txBody>
      </p:sp>
      <p:sp>
        <p:nvSpPr>
          <p:cNvPr id="5" name="Text 2"/>
          <p:cNvSpPr/>
          <p:nvPr>
            <p:ph idx="107" type="body" hasCustomPrompt="1"/>
          </p:nvPr>
        </p:nvSpPr>
        <p:spPr>
          <a:xfrm>
            <a:off x="548640" y="4983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Prepared for </a:t>
            </a:r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[ADD: name, Chairman]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·  </a:t>
            </a:r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[ADD: date]</a:t>
            </a:r>
            <a:endParaRPr lang="en-US" sz="1200" dirty="0"/>
          </a:p>
        </p:txBody>
      </p:sp>
      <p:sp>
        <p:nvSpPr>
          <p:cNvPr id="7" name="Text 2"/>
          <p:cNvSpPr/>
          <p:nvPr>
            <p:ph type="pic" idx="103" hasCustomPrompt="1"/>
          </p:nvPr>
        </p:nvSpPr>
        <p:spPr>
          <a:xfrm>
            <a:off x="6400800" y="0"/>
            <a:ext cx="5790895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F1 gives Adyen a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global, enterprise-grade stage</a:t>
            </a:r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, and payments is now one of its most contested categories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GWI; GlobalData; F1; Adyen; SPORTFIVE analysis. See Sources &amp; notes.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625M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18745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 platform in growth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F1 followers in 2026, up 30.8% since 2022. New sponsorship deal value is up 165% since 2020.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79776"/>
            <a:ext cx="66751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#1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28803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The audience Adyen sells 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F1 ranks #1 of five major sports on all five Adyen audiences, from senior decision-makers to early tech adopters.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85616"/>
            <a:ext cx="66751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457M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388620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Where Adyen does business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F1 fans across Adyen's 22 office markets, 13 of which host a 2027 race. India +95% and Japan +41% since 2022.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791456"/>
            <a:ext cx="667512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8920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4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489204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 contested category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Payment brands already partner F1 teams: Stripe, Airwallex, Mastercard and Visa. Adyen is not yet in F1.</a:t>
            </a:r>
            <a:endParaRPr lang="en-US" sz="1300" dirty="0"/>
          </a:p>
        </p:txBody>
      </p:sp>
      <p:sp>
        <p:nvSpPr>
          <p:cNvPr id="17" name="Recommendation card"/>
          <p:cNvSpPr/>
          <p:nvPr/>
        </p:nvSpPr>
        <p:spPr>
          <a:xfrm>
            <a:off x="7635240" y="1828800"/>
            <a:ext cx="4007815" cy="4160520"/>
          </a:xfrm>
          <a:prstGeom prst="roundRect">
            <a:avLst>
              <a:gd name="adj" fmla="val 182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2103120"/>
            <a:ext cx="3367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1"/>
                </a:solidFill>
              </a:rPr>
              <a:t>OUR RECOMMENDATION</a:t>
            </a:r>
            <a:endParaRPr lang="en-US" sz="1050" dirty="0"/>
          </a:p>
        </p:txBody>
      </p:sp>
      <p:sp>
        <p:nvSpPr>
          <p:cNvPr id="19" name="Placeholder"/>
          <p:cNvSpPr/>
          <p:nvPr/>
        </p:nvSpPr>
        <p:spPr>
          <a:xfrm>
            <a:off x="7955280" y="2423160"/>
            <a:ext cx="3367735" cy="6858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0" name="Placeholder text"/>
          <p:cNvSpPr txBox="1"/>
          <p:nvPr/>
        </p:nvSpPr>
        <p:spPr>
          <a:xfrm>
            <a:off x="8065008" y="2423160"/>
            <a:ext cx="31482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[ADD] </a:t>
            </a:r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Recommended asset and one-line rationale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3337560"/>
            <a:ext cx="3367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4"/>
                </a:solidFill>
              </a:rPr>
              <a:t>WHERE ADYEN SITS IN THE BUSINESS</a:t>
            </a:r>
            <a:endParaRPr lang="en-US" sz="1050" dirty="0"/>
          </a:p>
        </p:txBody>
      </p:sp>
      <p:sp>
        <p:nvSpPr>
          <p:cNvPr id="22" name="Placeholder"/>
          <p:cNvSpPr/>
          <p:nvPr/>
        </p:nvSpPr>
        <p:spPr>
          <a:xfrm>
            <a:off x="7955280" y="3611880"/>
            <a:ext cx="3367735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3" name="Placeholder text"/>
          <p:cNvSpPr txBox="1"/>
          <p:nvPr/>
        </p:nvSpPr>
        <p:spPr>
          <a:xfrm>
            <a:off x="8065008" y="3611880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[ADD] </a:t>
            </a:r>
            <a:pPr algn="l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One line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4206240"/>
            <a:ext cx="3367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4"/>
                </a:solidFill>
              </a:rPr>
              <a:t>INVESTMENT AND TERM</a:t>
            </a:r>
            <a:endParaRPr lang="en-US" sz="1050" dirty="0"/>
          </a:p>
        </p:txBody>
      </p:sp>
      <p:sp>
        <p:nvSpPr>
          <p:cNvPr id="25" name="Placeholder"/>
          <p:cNvSpPr/>
          <p:nvPr/>
        </p:nvSpPr>
        <p:spPr>
          <a:xfrm>
            <a:off x="7955280" y="4480560"/>
            <a:ext cx="3367735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6" name="Placeholder text"/>
          <p:cNvSpPr txBox="1"/>
          <p:nvPr/>
        </p:nvSpPr>
        <p:spPr>
          <a:xfrm>
            <a:off x="8065008" y="4480560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[ADD] </a:t>
            </a:r>
            <a:pPr algn="l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One line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5074920"/>
            <a:ext cx="3367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4"/>
                </a:solidFill>
              </a:rPr>
              <a:t>DECISION NEEDED TODAY</a:t>
            </a:r>
            <a:endParaRPr lang="en-US" sz="1050" dirty="0"/>
          </a:p>
        </p:txBody>
      </p:sp>
      <p:sp>
        <p:nvSpPr>
          <p:cNvPr id="28" name="Placeholder"/>
          <p:cNvSpPr/>
          <p:nvPr/>
        </p:nvSpPr>
        <p:spPr>
          <a:xfrm>
            <a:off x="7955280" y="5349240"/>
            <a:ext cx="3367735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9" name="Placeholder text"/>
          <p:cNvSpPr txBox="1"/>
          <p:nvPr/>
        </p:nvSpPr>
        <p:spPr>
          <a:xfrm>
            <a:off x="8065008" y="5349240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[ADD] </a:t>
            </a:r>
            <a:pPr algn="l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One 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Why Formula 1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Growth, audience and footprint: what the data says about F1 as a platform for Adyen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0"/>
            <a:ext cx="25907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Why Formula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2244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22244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Competitive landscape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5848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03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opportunities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451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451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04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WHY FORMULA 1 · GROWTH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F1 is growing in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audience and in commercial value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GWI (global audience, followers); GlobalData (new sponsorship deals only, excl. renewals). 2026 YTD: $1.91B across 139 deals, year incomplete.</a:t>
            </a:r>
            <a:endParaRPr lang="en-US" sz="9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5410048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GLOBAL F1 AUDIENCE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+30.8%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2377440"/>
            <a:ext cx="2804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2022–2026 · 147.3M additional followers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5800" y="2880360"/>
          <a:ext cx="5135728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22960" y="502920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625.3M followers in 2026, +8.3% vs 2025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233008" y="1828800"/>
            <a:ext cx="5410048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07328" y="2011680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NEW F1 SPONSORSHIP DEAL VALUE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507328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+165.3%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8564728" y="2377440"/>
            <a:ext cx="2804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2020–2025 · new deals only, excludes renewals</a:t>
            </a:r>
            <a:endParaRPr lang="en-US" sz="11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370168" y="2880360"/>
          <a:ext cx="5135728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6507328" y="502920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125 new deals in 2025 (+28.9% vs 2020)</a:t>
            </a:r>
            <a:endParaRPr lang="en-US" sz="1100" dirty="0"/>
          </a:p>
        </p:txBody>
      </p:sp>
      <p:sp>
        <p:nvSpPr>
          <p:cNvPr id="18" name="So what"/>
          <p:cNvSpPr/>
          <p:nvPr/>
        </p:nvSpPr>
        <p:spPr>
          <a:xfrm>
            <a:off x="548640" y="5623560"/>
            <a:ext cx="11094415" cy="530352"/>
          </a:xfrm>
          <a:prstGeom prst="roundRect">
            <a:avLst>
              <a:gd name="adj" fmla="val 1379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7240" y="562356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So what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brands are paying more to be in F1. The average annual value of a new deal rose from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$2.21M in 2020 to $5.78M in 2025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WHY FORMULA 1 · AUDIENCE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F1 is the strongest sport for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every audience Adyen sells to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GWI. Affinity index; ranking covers the five sports assessed. Benchmark per GWI methodology.</a:t>
            </a:r>
            <a:endParaRPr lang="en-US" sz="900" dirty="0"/>
          </a:p>
        </p:txBody>
      </p:sp>
      <p:graphicFrame>
        <p:nvGraphicFramePr>
          <p:cNvPr id="6" name="Affin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635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34440"/>
                <a:gridCol w="1234440"/>
                <a:gridCol w="1234440"/>
                <a:gridCol w="1234440"/>
                <a:gridCol w="1234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Sport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High income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Owners / founders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Senior decision-makers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Large-company employees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Early tech adopters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chemeClr val="tx2"/>
                          </a:solidFill>
                        </a:rPr>
                        <a:t>Means for Adyen</a:t>
                      </a:r>
                      <a:endParaRPr lang="en-US" sz="10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chemeClr val="tx2"/>
                          </a:solidFill>
                        </a:rPr>
                        <a:t>Premium consumers</a:t>
                      </a:r>
                      <a:endParaRPr lang="en-US" sz="10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chemeClr val="tx2"/>
                          </a:solidFill>
                        </a:rPr>
                        <a:t>Merchant owners</a:t>
                      </a:r>
                      <a:endParaRPr lang="en-US" sz="10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chemeClr val="tx2"/>
                          </a:solidFill>
                        </a:rPr>
                        <a:t>Enterprise buyers</a:t>
                      </a:r>
                      <a:endParaRPr lang="en-US" sz="10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chemeClr val="tx2"/>
                          </a:solidFill>
                        </a:rPr>
                        <a:t>Enterprise accounts</a:t>
                      </a:r>
                      <a:endParaRPr lang="en-US" sz="10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chemeClr val="tx2"/>
                          </a:solidFill>
                        </a:rPr>
                        <a:t>New-payment adopters</a:t>
                      </a:r>
                      <a:endParaRPr lang="en-US" sz="1000" dirty="0"/>
                    </a:p>
                  </a:txBody>
                  <a:tcPr marL="73152" marR="73152" marT="36576" marB="36576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Formula 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132.4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146.9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166.6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142.8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237.9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Tennis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129.5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128.4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148.1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141.8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176.3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Cycling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113.1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124.7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139.1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120.4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181.8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Basketball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117.9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117.4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131.1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120.3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151.1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Football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108.5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117.0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121.2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111.9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131.2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25780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F1 ranks #1 on all five measures. Higher index = stronger over-representation among the sport's fans.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8458200" y="1828800"/>
            <a:ext cx="3184855" cy="1673352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2011680"/>
            <a:ext cx="2636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237.9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732520" y="2670048"/>
            <a:ext cx="2636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Early tech adopters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31% above the next-best sport (cycling, 181.8)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458200" y="3639312"/>
            <a:ext cx="3184855" cy="1673352"/>
          </a:xfrm>
          <a:prstGeom prst="roundRect">
            <a:avLst>
              <a:gd name="adj" fmla="val 437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32520" y="3822192"/>
            <a:ext cx="2636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166.6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732520" y="4480560"/>
            <a:ext cx="2636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Senior decision-makers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12% above the next-best sport (tennis, 148.1)</a:t>
            </a:r>
            <a:endParaRPr lang="en-US" sz="1200" dirty="0"/>
          </a:p>
        </p:txBody>
      </p:sp>
      <p:sp>
        <p:nvSpPr>
          <p:cNvPr id="14" name="So what"/>
          <p:cNvSpPr/>
          <p:nvPr/>
        </p:nvSpPr>
        <p:spPr>
          <a:xfrm>
            <a:off x="548640" y="5623560"/>
            <a:ext cx="11094415" cy="530352"/>
          </a:xfrm>
          <a:prstGeom prst="roundRect">
            <a:avLst>
              <a:gd name="adj" fmla="val 1379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562356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So what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 is the only sport of the five that leads on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every audience Adyen needs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, from enterprise buyers to the consumers adopting new ways to pay.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WHY FORMULA 1 · FOOTPRINT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F1 races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where Adyen already does business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F1 2027 calendar and Adyen office list as supplied to SPORTFIVE (calendar not independently confirmed).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REGION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ADYEN OFFICES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1828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F1 RACES 2027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8288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OFFICE CITY WITH A RACE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Europe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2212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06040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79776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53512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27248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00984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48456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22192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95928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69664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43400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17136" y="2382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92040" y="2212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257800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31536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05272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79008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52744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26480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73952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47688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21424" y="23820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26948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Madrid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26700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2670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North America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2240280" y="26700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2606040" y="28392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779776" y="28392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953512" y="28392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127248" y="28392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300984" y="28392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892040" y="26700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257800" y="2839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31536" y="2839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605272" y="2839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779008" y="2839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52744" y="2839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269480" y="2670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Mexico City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48640" y="31272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4864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East Asia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2240280" y="31272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2606040" y="32964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79776" y="32964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53512" y="32964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892040" y="31272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5257800" y="32964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31536" y="32964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2694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Shanghai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48640" y="35844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48640" y="3584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Southeast Asia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2240280" y="35844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2606040" y="37536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79776" y="37536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892040" y="35844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5257800" y="37536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269480" y="3584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Singapore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548640" y="40416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48640" y="4041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South America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2240280" y="40416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2606040" y="42108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779776" y="42108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4892040" y="40416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5257800" y="42108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7269480" y="4041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São Paulo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548640" y="44988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548640" y="4498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India</a:t>
            </a:r>
            <a:endParaRPr lang="en-US" sz="1300" dirty="0"/>
          </a:p>
        </p:txBody>
      </p:sp>
      <p:sp>
        <p:nvSpPr>
          <p:cNvPr id="80" name="Text 77"/>
          <p:cNvSpPr txBox="1"/>
          <p:nvPr/>
        </p:nvSpPr>
        <p:spPr>
          <a:xfrm>
            <a:off x="2240280" y="4498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2606040" y="4668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779776" y="46680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892040" y="44988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</a:t>
            </a:r>
            <a:endParaRPr lang="en-US" sz="1300" dirty="0"/>
          </a:p>
        </p:txBody>
      </p:sp>
      <p:sp>
        <p:nvSpPr>
          <p:cNvPr id="84" name="Text 81"/>
          <p:cNvSpPr txBox="1"/>
          <p:nvPr/>
        </p:nvSpPr>
        <p:spPr>
          <a:xfrm>
            <a:off x="7269480" y="4498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No race</a:t>
            </a:r>
            <a:endParaRPr lang="en-US" sz="1200" dirty="0"/>
          </a:p>
        </p:txBody>
      </p:sp>
      <p:sp>
        <p:nvSpPr>
          <p:cNvPr id="85" name="Shape 82"/>
          <p:cNvSpPr/>
          <p:nvPr/>
        </p:nvSpPr>
        <p:spPr>
          <a:xfrm>
            <a:off x="548640" y="49560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48640" y="4956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Middle East</a:t>
            </a:r>
            <a:endParaRPr lang="en-US" sz="1300" dirty="0"/>
          </a:p>
        </p:txBody>
      </p:sp>
      <p:sp>
        <p:nvSpPr>
          <p:cNvPr id="87" name="Text 84"/>
          <p:cNvSpPr txBox="1"/>
          <p:nvPr/>
        </p:nvSpPr>
        <p:spPr>
          <a:xfrm>
            <a:off x="2240280" y="49560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8" name="Shape 85"/>
          <p:cNvSpPr/>
          <p:nvPr/>
        </p:nvSpPr>
        <p:spPr>
          <a:xfrm>
            <a:off x="2606040" y="51252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892040" y="49560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90" name="Shape 87"/>
          <p:cNvSpPr/>
          <p:nvPr/>
        </p:nvSpPr>
        <p:spPr>
          <a:xfrm>
            <a:off x="5257800" y="5125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431536" y="5125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605272" y="5125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779008" y="51252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7269480" y="4956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—</a:t>
            </a:r>
            <a:endParaRPr lang="en-US" sz="1200" dirty="0"/>
          </a:p>
        </p:txBody>
      </p:sp>
      <p:sp>
        <p:nvSpPr>
          <p:cNvPr id="95" name="Shape 92"/>
          <p:cNvSpPr/>
          <p:nvPr/>
        </p:nvSpPr>
        <p:spPr>
          <a:xfrm>
            <a:off x="548640" y="54132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548640" y="5413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Australia</a:t>
            </a:r>
            <a:endParaRPr lang="en-US" sz="1300" dirty="0"/>
          </a:p>
        </p:txBody>
      </p:sp>
      <p:sp>
        <p:nvSpPr>
          <p:cNvPr id="97" name="Text 94"/>
          <p:cNvSpPr txBox="1"/>
          <p:nvPr/>
        </p:nvSpPr>
        <p:spPr>
          <a:xfrm>
            <a:off x="2240280" y="54132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98" name="Shape 95"/>
          <p:cNvSpPr/>
          <p:nvPr/>
        </p:nvSpPr>
        <p:spPr>
          <a:xfrm>
            <a:off x="2606040" y="558241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4892040" y="54132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00" name="Shape 97"/>
          <p:cNvSpPr/>
          <p:nvPr/>
        </p:nvSpPr>
        <p:spPr>
          <a:xfrm>
            <a:off x="5257800" y="558241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7269480" y="5413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—</a:t>
            </a:r>
            <a:endParaRPr lang="en-US" sz="1200" dirty="0"/>
          </a:p>
        </p:txBody>
      </p:sp>
      <p:sp>
        <p:nvSpPr>
          <p:cNvPr id="102" name="Shape 99"/>
          <p:cNvSpPr/>
          <p:nvPr/>
        </p:nvSpPr>
        <p:spPr>
          <a:xfrm>
            <a:off x="548640" y="5870448"/>
            <a:ext cx="83210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548640" y="6062472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731520" y="6007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Adyen office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1920240" y="6062472"/>
            <a:ext cx="118872" cy="11887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103120" y="6007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F1 race weekend</a:t>
            </a:r>
            <a:endParaRPr lang="en-US" sz="1000" dirty="0"/>
          </a:p>
        </p:txBody>
      </p:sp>
      <p:sp>
        <p:nvSpPr>
          <p:cNvPr id="107" name="Card"/>
          <p:cNvSpPr/>
          <p:nvPr/>
        </p:nvSpPr>
        <p:spPr>
          <a:xfrm>
            <a:off x="9189720" y="1828800"/>
            <a:ext cx="245333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9464040" y="1965960"/>
            <a:ext cx="1904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24</a:t>
            </a:r>
            <a:endParaRPr lang="en-US" sz="3000" dirty="0"/>
          </a:p>
        </p:txBody>
      </p:sp>
      <p:sp>
        <p:nvSpPr>
          <p:cNvPr id="109" name="Text 106"/>
          <p:cNvSpPr txBox="1"/>
          <p:nvPr/>
        </p:nvSpPr>
        <p:spPr>
          <a:xfrm>
            <a:off x="9464040" y="2542032"/>
            <a:ext cx="1904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Grands Prix on the 2027 calendar</a:t>
            </a:r>
            <a:endParaRPr lang="en-US" sz="1200" dirty="0"/>
          </a:p>
        </p:txBody>
      </p:sp>
      <p:sp>
        <p:nvSpPr>
          <p:cNvPr id="110" name="Card"/>
          <p:cNvSpPr/>
          <p:nvPr/>
        </p:nvSpPr>
        <p:spPr>
          <a:xfrm>
            <a:off x="9189720" y="3200400"/>
            <a:ext cx="245333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9464040" y="3337560"/>
            <a:ext cx="1904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28</a:t>
            </a:r>
            <a:endParaRPr lang="en-US" sz="3000" dirty="0"/>
          </a:p>
        </p:txBody>
      </p:sp>
      <p:sp>
        <p:nvSpPr>
          <p:cNvPr id="112" name="Text 109"/>
          <p:cNvSpPr txBox="1"/>
          <p:nvPr/>
        </p:nvSpPr>
        <p:spPr>
          <a:xfrm>
            <a:off x="9464040" y="3913632"/>
            <a:ext cx="1904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Adyen offices worldwide</a:t>
            </a:r>
            <a:endParaRPr lang="en-US" sz="1200" dirty="0"/>
          </a:p>
        </p:txBody>
      </p:sp>
      <p:sp>
        <p:nvSpPr>
          <p:cNvPr id="113" name="Card"/>
          <p:cNvSpPr/>
          <p:nvPr/>
        </p:nvSpPr>
        <p:spPr>
          <a:xfrm>
            <a:off x="9189720" y="4572000"/>
            <a:ext cx="2453335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9464040" y="4709160"/>
            <a:ext cx="1904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7 of 8</a:t>
            </a:r>
            <a:endParaRPr lang="en-US" sz="3000" dirty="0"/>
          </a:p>
        </p:txBody>
      </p:sp>
      <p:sp>
        <p:nvSpPr>
          <p:cNvPr id="115" name="Text 112"/>
          <p:cNvSpPr txBox="1"/>
          <p:nvPr/>
        </p:nvSpPr>
        <p:spPr>
          <a:xfrm>
            <a:off x="9464040" y="5285232"/>
            <a:ext cx="1904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regions where Adyen has an office host a race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WHY FORMULA 1 · PRIORITY MARKETS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457M F1 fans live in Adyen's markets, and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India and Japan are accelerating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GWI (F1 audience by market, 2026 vs 2022); Adyen (office markets). Growth rates as reported.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28016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8196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Hosts a 2027 race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77440" y="1874520"/>
            <a:ext cx="128016" cy="128016"/>
          </a:xfrm>
          <a:prstGeom prst="rect">
            <a:avLst/>
          </a:prstGeom>
          <a:solidFill>
            <a:srgbClr val="C9CFD6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78608" y="18196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No race in 2027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18196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F1 audience, millions (growth 2022–2026)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103120"/>
          <a:ext cx="71323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57607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Plus 11 further Adyen markets: 34.4M fans.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8001000" y="1828800"/>
            <a:ext cx="364205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75320" y="1956816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457.2M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2423160"/>
            <a:ext cx="3093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F1 fans across Adyen's 22 office markets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+33.6% since 2022; 13 of the 22 markets host a 2027 race.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8001000" y="3227832"/>
            <a:ext cx="364205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3355848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India · 117.4M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10225735" y="3392424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225735" y="3392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PRIORITY MARKET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8275320" y="3822192"/>
            <a:ext cx="3093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+94.9% since 2022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fastest growth of any Adyen office market, with no Grand Prix on the calendar.</a:t>
            </a:r>
            <a:endParaRPr lang="en-US" sz="1150" dirty="0"/>
          </a:p>
        </p:txBody>
      </p:sp>
      <p:sp>
        <p:nvSpPr>
          <p:cNvPr id="21" name="Card"/>
          <p:cNvSpPr/>
          <p:nvPr/>
        </p:nvSpPr>
        <p:spPr>
          <a:xfrm>
            <a:off x="8001000" y="4626864"/>
            <a:ext cx="3642055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75320" y="475488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Japan · 7.1M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10225735" y="4791456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225735" y="4791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PRIORITY MARKET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8275320" y="5221224"/>
            <a:ext cx="3093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+41.2% since 2022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priority market for Adyen, home of the Suzuka Grand Prix.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WHY FORMULA 1 · WHAT IT MEANS FOR ADYEN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Why F1 makes sense for Adyen,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in six data points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GWI; GlobalData; F1; Adyen; SPORTFIVE analysis.</a:t>
            </a:r>
            <a:endParaRPr lang="en-US" sz="9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848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185782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084832"/>
            <a:ext cx="2509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Reach enterprise buyers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3347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166.6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1546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Senior decision-maker index, the highest of the five sports assessed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338218" y="182880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12538" y="20848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88" y="2185782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1178" y="2084832"/>
            <a:ext cx="2509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Lead on innovation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612538" y="263347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237.9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4612538" y="31546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Early tech adopter index, 31% above the next-best sport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8127797" y="182880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02117" y="20848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067" y="2185782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50757" y="2084832"/>
            <a:ext cx="2509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Grow in priority markets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402117" y="263347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457M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8402117" y="31546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F1 fans across Adyen's 22 office markets, +33.6% since 2022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548640" y="402336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42793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10" y="4380342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4279392"/>
            <a:ext cx="2509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Host clients where they are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482803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13 of 22</a:t>
            </a:r>
            <a:endParaRPr lang="en-US" sz="28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Adyen office markets host a Grand Prix in 2027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4338218" y="402336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12538" y="42793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488" y="4380342"/>
            <a:ext cx="218724" cy="21872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161178" y="4279392"/>
            <a:ext cx="2509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Keep pace with the category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612538" y="482803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4</a:t>
            </a:r>
            <a:endParaRPr lang="en-US" sz="2800" dirty="0"/>
          </a:p>
        </p:txBody>
      </p:sp>
      <p:sp>
        <p:nvSpPr>
          <p:cNvPr id="35" name="Text 27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Payment brands already in F1: Stripe, Airwallex, Mastercard, Visa</a:t>
            </a:r>
            <a:endParaRPr lang="en-US" sz="1200" dirty="0"/>
          </a:p>
        </p:txBody>
      </p:sp>
      <p:sp>
        <p:nvSpPr>
          <p:cNvPr id="36" name="Card"/>
          <p:cNvSpPr/>
          <p:nvPr/>
        </p:nvSpPr>
        <p:spPr>
          <a:xfrm>
            <a:off x="8127797" y="4023360"/>
            <a:ext cx="3515258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402117" y="42793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067" y="4380342"/>
            <a:ext cx="218724" cy="21872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950757" y="4279392"/>
            <a:ext cx="25094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Invest in a rising asset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8402117" y="482803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$5.78M</a:t>
            </a:r>
            <a:endParaRPr lang="en-US" sz="2800" dirty="0"/>
          </a:p>
        </p:txBody>
      </p:sp>
      <p:sp>
        <p:nvSpPr>
          <p:cNvPr id="41" name="Text 32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Average annual value of a new F1 deal in 2025, up from $2.21M in 2020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Competitive landscape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Who is already using sport, and F1 in particular, to win in payments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Why Formula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2244" y="5715000"/>
            <a:ext cx="25907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22244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Competitive landscape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5848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03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opportunities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451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451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04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COMPETITIVE LANDSCAPE · PAYMENTS IN F1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Payments is one of F1's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most contested categories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SPORTFIVE analysis. Team names as used in the BI scan.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75470"/>
            <a:ext cx="218724" cy="2187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85623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Four payment brands already partner F1 teams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Two are Adyen competitors (Stripe, Airwallex); two are card schemes (Mastercard, Visa).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2461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3347070"/>
            <a:ext cx="218724" cy="2187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22783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Integration is the new benchmark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Airwallex sits inside McLaren's business, not just on the car.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46177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4718670"/>
            <a:ext cx="218724" cy="2187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59943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Card schemes are partners, not blockers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Visa and Mastercard partner Adyen; Mastercard and Airwallex already co-exist at McLaren.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983480" y="1828800"/>
            <a:ext cx="31926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257800" y="2057400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57800" y="20574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COMPETITOR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5257800" y="2423160"/>
            <a:ext cx="2643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Stripe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257800" y="2834640"/>
            <a:ext cx="2643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Mercedes-AMG Petronas F1 Team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8450428" y="1828800"/>
            <a:ext cx="31926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724748" y="2057400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724748" y="20574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COMPETITOR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8724748" y="2423160"/>
            <a:ext cx="2643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Airwallex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8724748" y="2834640"/>
            <a:ext cx="2643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McLaren F1 Team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983480" y="3566160"/>
            <a:ext cx="31926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57800" y="3794760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257800" y="3794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ADYEN PARTNER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5257800" y="4160520"/>
            <a:ext cx="2643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Mastercard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5257800" y="4572000"/>
            <a:ext cx="2643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McLaren Mastercard F1 Team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8450428" y="3566160"/>
            <a:ext cx="3192628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724748" y="3794760"/>
            <a:ext cx="123444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724748" y="3794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ADYEN PARTNER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8724748" y="4160520"/>
            <a:ext cx="2643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Visa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8724748" y="4572000"/>
            <a:ext cx="2643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Red Bull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983480" y="5303520"/>
            <a:ext cx="6659575" cy="749808"/>
          </a:xfrm>
          <a:prstGeom prst="roundRect">
            <a:avLst>
              <a:gd name="adj" fmla="val 9756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36" name="Image 3" descr="/tmp/claude-0/-home-user-rg42/d3725804-05e1-504f-b9a1-c72fc029878d/scratchpad/adyen/build/assets/adyen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5568696"/>
            <a:ext cx="685800" cy="21945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172200" y="5303520"/>
            <a:ext cx="52422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 yet in F1. 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Adyen's F1 home and the role it plays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COMPETITIVE LANDSCAPE · COMPETITORS IN 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Adyen's competitors are already buying into sport, but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only two have committed to F1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SPORTFIVE BI competitor scan (not exhaustive). Property types vary (teams, leagues, venues, athletes); no equivalence of rights, fees or exclusivity implied.</a:t>
            </a:r>
            <a:endParaRPr lang="en-US" sz="900" dirty="0"/>
          </a:p>
        </p:txBody>
      </p:sp>
      <p:graphicFrame>
        <p:nvGraphicFramePr>
          <p:cNvPr id="12" name="Competito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40280"/>
                <a:gridCol w="2834640"/>
                <a:gridCol w="2834640"/>
                <a:gridCol w="1719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Competitor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F1  (2)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Football  (11)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US leagues &amp; college  (12)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Other &amp; venues  (7)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Stripe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Mercedes-AMG Petronas F1 Team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Ryder Cup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Airwallex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McLaren F1 Team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Arsenal FC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San Francisco Giants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Essendon FC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PayPal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Liverpool FC, San Jose Earthquakes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Seattle Seahawks, NFL, Big 12 Conference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Fiserv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Clover Park, Fiserv Forum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Shift4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Austin FC, Charlotte FC, Chicago Fire FC, LAFC, San Diego FC, Sporting KC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Kansas City Chiefs, Las Vegas Raiders, New Orleans Saints, Chicago Cubs, Texas Rangers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Global Payments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Minnesota Twins, Philadelphia 76ers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Mercedes-Benz Stadium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Ant International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Argentinian Football Association, Tottenham Hotspur FC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NBA China Games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Carlos Alcaraz, Laver Cup</a:t>
                      </a:r>
                      <a:endParaRPr lang="en-US" sz="10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So what"/>
          <p:cNvSpPr/>
          <p:nvPr/>
        </p:nvSpPr>
        <p:spPr>
          <a:xfrm>
            <a:off x="548640" y="5687568"/>
            <a:ext cx="11094415" cy="530352"/>
          </a:xfrm>
          <a:prstGeom prst="roundRect">
            <a:avLst>
              <a:gd name="adj" fmla="val 1379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687568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So what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competitor money is spread across football and US leagues. In F1,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only Stripe and Airwallex have team partnerships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: the category is still open for Adyen to lead.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COMPETITIVE LANDSCAPE · THE BENCHMARK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The model to beat: Airwallex × McLaren,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integration not a logo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SPORTFIVE analysis.</a:t>
            </a:r>
            <a:endParaRPr lang="en-US" sz="900" dirty="0"/>
          </a:p>
        </p:txBody>
      </p:sp>
      <p:sp>
        <p:nvSpPr>
          <p:cNvPr id="6" name="Placeholder"/>
          <p:cNvSpPr/>
          <p:nvPr/>
        </p:nvSpPr>
        <p:spPr>
          <a:xfrm>
            <a:off x="548640" y="1828800"/>
            <a:ext cx="4160520" cy="4206240"/>
          </a:xfrm>
          <a:prstGeom prst="roundRect">
            <a:avLst>
              <a:gd name="adj" fmla="val 1319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7" name="Placeholder text"/>
          <p:cNvSpPr txBox="1"/>
          <p:nvPr/>
        </p:nvSpPr>
        <p:spPr>
          <a:xfrm>
            <a:off x="658368" y="1828800"/>
            <a:ext cx="394106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Image: Airwallex × McLaren activation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828800"/>
            <a:ext cx="6568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WHAT AIRWALLEX DID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74920" y="2167128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2148840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Positioned the deal as business integration, embedding its financial solutions in the partner's operations.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74920" y="2734056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532120" y="2715768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Activated the IP across content, events, hospitality and performance marketing.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74920" y="3300984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7492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3282696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Built one B2B sports platform: McLaren in F1, plus Arsenal FC, San Francisco Giants and Essendon FC.</a:t>
            </a:r>
            <a:endParaRPr lang="en-US" sz="1300" dirty="0"/>
          </a:p>
        </p:txBody>
      </p:sp>
      <p:sp>
        <p:nvSpPr>
          <p:cNvPr id="18" name="Placeholder"/>
          <p:cNvSpPr/>
          <p:nvPr/>
        </p:nvSpPr>
        <p:spPr>
          <a:xfrm>
            <a:off x="5074920" y="3886200"/>
            <a:ext cx="6568135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9" name="Placeholder text"/>
          <p:cNvSpPr txBox="1"/>
          <p:nvPr/>
        </p:nvSpPr>
        <p:spPr>
          <a:xfrm>
            <a:off x="5184648" y="3886200"/>
            <a:ext cx="63486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Results Airwallex has reported (volumes, customers, pipeline)</a:t>
            </a:r>
            <a:endParaRPr lang="en-US" sz="1150" dirty="0"/>
          </a:p>
        </p:txBody>
      </p:sp>
      <p:sp>
        <p:nvSpPr>
          <p:cNvPr id="20" name="Lessons"/>
          <p:cNvSpPr/>
          <p:nvPr/>
        </p:nvSpPr>
        <p:spPr>
          <a:xfrm>
            <a:off x="5074920" y="4480560"/>
            <a:ext cx="6568135" cy="1554480"/>
          </a:xfrm>
          <a:prstGeom prst="roundRect">
            <a:avLst>
              <a:gd name="adj" fmla="val 47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49240" y="4617720"/>
            <a:ext cx="6019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2"/>
                </a:solidFill>
              </a:rPr>
              <a:t>WHAT IT MEANS FOR ADYEN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349240" y="4892040"/>
            <a:ext cx="6019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Lead with where Adyen sits inside the partner's business, not the logo.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Show a clear line to revenue and payment volume.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Put hospitality at the centre, connecting people across the partner's ecosystem.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The opportunities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Three routes into F1: two teams and one driver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Why Formula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2244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22244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Competitive landscape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5715000"/>
            <a:ext cx="25907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5848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The opportunities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451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451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04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THE OPPORTUNITIES ·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Three routes into F1 for Adyen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[ADD]</a:t>
            </a:r>
            <a:endParaRPr lang="en-US" sz="9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laceholder"/>
          <p:cNvSpPr/>
          <p:nvPr/>
        </p:nvSpPr>
        <p:spPr>
          <a:xfrm>
            <a:off x="777240" y="2057400"/>
            <a:ext cx="3058058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8" name="Placeholder text"/>
          <p:cNvSpPr txBox="1"/>
          <p:nvPr/>
        </p:nvSpPr>
        <p:spPr>
          <a:xfrm>
            <a:off x="886968" y="2057400"/>
            <a:ext cx="28386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Image or logo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10128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2"/>
                </a:solidFill>
              </a:rPr>
              <a:t>ROUTE 1 · TEAM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4787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Alpine F1 Team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069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The opportunity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54456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Where Adyen sits in the business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020056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Indicative investment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495544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Status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4338218" y="182880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laceholder"/>
          <p:cNvSpPr/>
          <p:nvPr/>
        </p:nvSpPr>
        <p:spPr>
          <a:xfrm>
            <a:off x="4566818" y="2057400"/>
            <a:ext cx="3058058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Placeholder text"/>
          <p:cNvSpPr txBox="1"/>
          <p:nvPr/>
        </p:nvSpPr>
        <p:spPr>
          <a:xfrm>
            <a:off x="4676546" y="2057400"/>
            <a:ext cx="28386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Image or logo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612538" y="3310128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2"/>
                </a:solidFill>
              </a:rPr>
              <a:t>ROUTE 2 · TEAM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612538" y="354787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Scuderia Ferrari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4612538" y="4069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The opportunity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612538" y="454456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Where Adyen sits in the business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612538" y="5020056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Indicative investment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612538" y="5495544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Status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24" name="Card"/>
          <p:cNvSpPr/>
          <p:nvPr/>
        </p:nvSpPr>
        <p:spPr>
          <a:xfrm>
            <a:off x="8127797" y="182880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laceholder"/>
          <p:cNvSpPr/>
          <p:nvPr/>
        </p:nvSpPr>
        <p:spPr>
          <a:xfrm>
            <a:off x="8356397" y="2057400"/>
            <a:ext cx="3058058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6" name="Placeholder text"/>
          <p:cNvSpPr txBox="1"/>
          <p:nvPr/>
        </p:nvSpPr>
        <p:spPr>
          <a:xfrm>
            <a:off x="8466125" y="2057400"/>
            <a:ext cx="28386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Image or logo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402117" y="3310128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accent2"/>
                </a:solidFill>
              </a:rPr>
              <a:t>ROUTE 3 · DRIVER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02117" y="354787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Max Verstappen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402117" y="4069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The opportunity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402117" y="454456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Where Adyen sits in the business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402117" y="5020056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Indicative investment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402117" y="5495544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Status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body" hasCustomPrompt="1"/>
          </p:nvPr>
        </p:nvSpPr>
        <p:spPr>
          <a:xfrm>
            <a:off x="4892040" y="384048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THE OPPORTUNITIES · ROUTE 1 · TEAM</a:t>
            </a:r>
            <a:endParaRPr lang="en-US" sz="11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4892040" y="685800"/>
            <a:ext cx="6751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Alpine F1 Team: </a:t>
            </a:r>
            <a:pPr algn="l" indent="0" marL="0">
              <a:buNone/>
            </a:pPr>
            <a:r>
              <a:rPr lang="en-US" sz="2800" i="1" dirty="0">
                <a:solidFill>
                  <a:schemeClr val="accent3"/>
                </a:solidFill>
              </a:rPr>
              <a:t>[ADD: one-line positioning]</a:t>
            </a:r>
            <a:endParaRPr lang="en-US" sz="28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4892040" y="63825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[ADD]</a:t>
            </a:r>
            <a:endParaRPr lang="en-US" sz="900" dirty="0"/>
          </a:p>
        </p:txBody>
      </p:sp>
      <p:sp>
        <p:nvSpPr>
          <p:cNvPr id="6" name="Card"/>
          <p:cNvSpPr/>
          <p:nvPr/>
        </p:nvSpPr>
        <p:spPr>
          <a:xfrm>
            <a:off x="4892040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7218578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7178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447178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9545117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773717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773717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246120"/>
            <a:ext cx="321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WHY THIS ASSET</a:t>
            </a:r>
            <a:endParaRPr lang="en-US" sz="1050" dirty="0"/>
          </a:p>
        </p:txBody>
      </p:sp>
      <p:sp>
        <p:nvSpPr>
          <p:cNvPr id="16" name="Placeholder"/>
          <p:cNvSpPr/>
          <p:nvPr/>
        </p:nvSpPr>
        <p:spPr>
          <a:xfrm>
            <a:off x="4892040" y="3566160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Placeholder text"/>
          <p:cNvSpPr txBox="1"/>
          <p:nvPr/>
        </p:nvSpPr>
        <p:spPr>
          <a:xfrm>
            <a:off x="5001768" y="3566160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1</a:t>
            </a:r>
            <a:endParaRPr lang="en-US" sz="1150" dirty="0"/>
          </a:p>
        </p:txBody>
      </p:sp>
      <p:sp>
        <p:nvSpPr>
          <p:cNvPr id="18" name="Placeholder"/>
          <p:cNvSpPr/>
          <p:nvPr/>
        </p:nvSpPr>
        <p:spPr>
          <a:xfrm>
            <a:off x="4892040" y="4370832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9" name="Placeholder text"/>
          <p:cNvSpPr txBox="1"/>
          <p:nvPr/>
        </p:nvSpPr>
        <p:spPr>
          <a:xfrm>
            <a:off x="5001768" y="4370832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2</a:t>
            </a:r>
            <a:endParaRPr lang="en-US" sz="1150" dirty="0"/>
          </a:p>
        </p:txBody>
      </p:sp>
      <p:sp>
        <p:nvSpPr>
          <p:cNvPr id="20" name="Placeholder"/>
          <p:cNvSpPr/>
          <p:nvPr/>
        </p:nvSpPr>
        <p:spPr>
          <a:xfrm>
            <a:off x="4892040" y="5175504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1" name="Placeholder text"/>
          <p:cNvSpPr txBox="1"/>
          <p:nvPr/>
        </p:nvSpPr>
        <p:spPr>
          <a:xfrm>
            <a:off x="5001768" y="5175504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3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427568" y="3246120"/>
            <a:ext cx="321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FIT WITH ADYEN'S BRIEF</a:t>
            </a:r>
            <a:endParaRPr lang="en-US" sz="1050" dirty="0"/>
          </a:p>
        </p:txBody>
      </p:sp>
      <p:sp>
        <p:nvSpPr>
          <p:cNvPr id="23" name="Card"/>
          <p:cNvSpPr/>
          <p:nvPr/>
        </p:nvSpPr>
        <p:spPr>
          <a:xfrm>
            <a:off x="8427568" y="3566160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10448" y="3566160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Integration inside the partner's business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865815" y="3566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26" name="Card"/>
          <p:cNvSpPr/>
          <p:nvPr/>
        </p:nvSpPr>
        <p:spPr>
          <a:xfrm>
            <a:off x="8427568" y="4050792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10448" y="4050792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Clear line to revenue and payment volume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0865815" y="405079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29" name="Card"/>
          <p:cNvSpPr/>
          <p:nvPr/>
        </p:nvSpPr>
        <p:spPr>
          <a:xfrm>
            <a:off x="8427568" y="4535424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10448" y="4535424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Hospitality at the centre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865815" y="45354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2" name="Card"/>
          <p:cNvSpPr/>
          <p:nvPr/>
        </p:nvSpPr>
        <p:spPr>
          <a:xfrm>
            <a:off x="8427568" y="5020056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10448" y="5020056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Access to the partner's commercial network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865815" y="502005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5" name="Card"/>
          <p:cNvSpPr/>
          <p:nvPr/>
        </p:nvSpPr>
        <p:spPr>
          <a:xfrm>
            <a:off x="8427568" y="5504688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10448" y="5504688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Reach in Europe, North America and APAC (incl. Japan, India)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0865815" y="550468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8" name="Text 2"/>
          <p:cNvSpPr/>
          <p:nvPr>
            <p:ph type="pic" idx="103" hasCustomPrompt="1"/>
          </p:nvPr>
        </p:nvSpPr>
        <p:spPr>
          <a:xfrm>
            <a:off x="0" y="0"/>
            <a:ext cx="4434840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body" hasCustomPrompt="1"/>
          </p:nvPr>
        </p:nvSpPr>
        <p:spPr>
          <a:xfrm>
            <a:off x="4892040" y="384048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THE OPPORTUNITIES · ROUTE 2 · TEAM</a:t>
            </a:r>
            <a:endParaRPr lang="en-US" sz="11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4892040" y="685800"/>
            <a:ext cx="6751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Scuderia Ferrari: </a:t>
            </a:r>
            <a:pPr algn="l" indent="0" marL="0">
              <a:buNone/>
            </a:pPr>
            <a:r>
              <a:rPr lang="en-US" sz="2800" i="1" dirty="0">
                <a:solidFill>
                  <a:schemeClr val="accent3"/>
                </a:solidFill>
              </a:rPr>
              <a:t>[ADD: one-line positioning]</a:t>
            </a:r>
            <a:endParaRPr lang="en-US" sz="28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4892040" y="63825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[ADD]</a:t>
            </a:r>
            <a:endParaRPr lang="en-US" sz="900" dirty="0"/>
          </a:p>
        </p:txBody>
      </p:sp>
      <p:sp>
        <p:nvSpPr>
          <p:cNvPr id="6" name="Card"/>
          <p:cNvSpPr/>
          <p:nvPr/>
        </p:nvSpPr>
        <p:spPr>
          <a:xfrm>
            <a:off x="4892040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7218578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7178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447178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9545117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773717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773717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246120"/>
            <a:ext cx="321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WHY THIS ASSET</a:t>
            </a:r>
            <a:endParaRPr lang="en-US" sz="1050" dirty="0"/>
          </a:p>
        </p:txBody>
      </p:sp>
      <p:sp>
        <p:nvSpPr>
          <p:cNvPr id="16" name="Placeholder"/>
          <p:cNvSpPr/>
          <p:nvPr/>
        </p:nvSpPr>
        <p:spPr>
          <a:xfrm>
            <a:off x="4892040" y="3566160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Placeholder text"/>
          <p:cNvSpPr txBox="1"/>
          <p:nvPr/>
        </p:nvSpPr>
        <p:spPr>
          <a:xfrm>
            <a:off x="5001768" y="3566160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1</a:t>
            </a:r>
            <a:endParaRPr lang="en-US" sz="1150" dirty="0"/>
          </a:p>
        </p:txBody>
      </p:sp>
      <p:sp>
        <p:nvSpPr>
          <p:cNvPr id="18" name="Placeholder"/>
          <p:cNvSpPr/>
          <p:nvPr/>
        </p:nvSpPr>
        <p:spPr>
          <a:xfrm>
            <a:off x="4892040" y="4370832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9" name="Placeholder text"/>
          <p:cNvSpPr txBox="1"/>
          <p:nvPr/>
        </p:nvSpPr>
        <p:spPr>
          <a:xfrm>
            <a:off x="5001768" y="4370832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2</a:t>
            </a:r>
            <a:endParaRPr lang="en-US" sz="1150" dirty="0"/>
          </a:p>
        </p:txBody>
      </p:sp>
      <p:sp>
        <p:nvSpPr>
          <p:cNvPr id="20" name="Placeholder"/>
          <p:cNvSpPr/>
          <p:nvPr/>
        </p:nvSpPr>
        <p:spPr>
          <a:xfrm>
            <a:off x="4892040" y="5175504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1" name="Placeholder text"/>
          <p:cNvSpPr txBox="1"/>
          <p:nvPr/>
        </p:nvSpPr>
        <p:spPr>
          <a:xfrm>
            <a:off x="5001768" y="5175504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3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427568" y="3246120"/>
            <a:ext cx="321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FIT WITH ADYEN'S BRIEF</a:t>
            </a:r>
            <a:endParaRPr lang="en-US" sz="1050" dirty="0"/>
          </a:p>
        </p:txBody>
      </p:sp>
      <p:sp>
        <p:nvSpPr>
          <p:cNvPr id="23" name="Card"/>
          <p:cNvSpPr/>
          <p:nvPr/>
        </p:nvSpPr>
        <p:spPr>
          <a:xfrm>
            <a:off x="8427568" y="3566160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10448" y="3566160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Integration inside the partner's business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865815" y="3566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26" name="Card"/>
          <p:cNvSpPr/>
          <p:nvPr/>
        </p:nvSpPr>
        <p:spPr>
          <a:xfrm>
            <a:off x="8427568" y="4050792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10448" y="4050792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Clear line to revenue and payment volume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0865815" y="405079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29" name="Card"/>
          <p:cNvSpPr/>
          <p:nvPr/>
        </p:nvSpPr>
        <p:spPr>
          <a:xfrm>
            <a:off x="8427568" y="4535424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10448" y="4535424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Hospitality at the centre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865815" y="45354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2" name="Card"/>
          <p:cNvSpPr/>
          <p:nvPr/>
        </p:nvSpPr>
        <p:spPr>
          <a:xfrm>
            <a:off x="8427568" y="5020056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10448" y="5020056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Access to the partner's commercial network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865815" y="502005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5" name="Card"/>
          <p:cNvSpPr/>
          <p:nvPr/>
        </p:nvSpPr>
        <p:spPr>
          <a:xfrm>
            <a:off x="8427568" y="5504688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10448" y="5504688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Reach in Europe, North America and APAC (incl. Japan, India)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0865815" y="550468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8" name="Text 2"/>
          <p:cNvSpPr/>
          <p:nvPr>
            <p:ph type="pic" idx="103" hasCustomPrompt="1"/>
          </p:nvPr>
        </p:nvSpPr>
        <p:spPr>
          <a:xfrm>
            <a:off x="0" y="0"/>
            <a:ext cx="4434840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body" hasCustomPrompt="1"/>
          </p:nvPr>
        </p:nvSpPr>
        <p:spPr>
          <a:xfrm>
            <a:off x="4892040" y="384048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THE OPPORTUNITIES · ROUTE 3 · DRIVER</a:t>
            </a:r>
            <a:endParaRPr lang="en-US" sz="11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4892040" y="685800"/>
            <a:ext cx="6751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Max Verstappen: </a:t>
            </a:r>
            <a:pPr algn="l" indent="0" marL="0">
              <a:buNone/>
            </a:pPr>
            <a:r>
              <a:rPr lang="en-US" sz="2800" i="1" dirty="0">
                <a:solidFill>
                  <a:schemeClr val="accent3"/>
                </a:solidFill>
              </a:rPr>
              <a:t>[ADD: one-line positioning]</a:t>
            </a:r>
            <a:endParaRPr lang="en-US" sz="28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4892040" y="63825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[ADD]</a:t>
            </a:r>
            <a:endParaRPr lang="en-US" sz="900" dirty="0"/>
          </a:p>
        </p:txBody>
      </p:sp>
      <p:sp>
        <p:nvSpPr>
          <p:cNvPr id="6" name="Card"/>
          <p:cNvSpPr/>
          <p:nvPr/>
        </p:nvSpPr>
        <p:spPr>
          <a:xfrm>
            <a:off x="4892040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7218578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7178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447178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9545117" y="1828800"/>
            <a:ext cx="2097938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773717" y="1938528"/>
            <a:ext cx="1640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[ADD]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773717" y="2468880"/>
            <a:ext cx="1640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Headline number and label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246120"/>
            <a:ext cx="321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WHY THIS ASSET</a:t>
            </a:r>
            <a:endParaRPr lang="en-US" sz="1050" dirty="0"/>
          </a:p>
        </p:txBody>
      </p:sp>
      <p:sp>
        <p:nvSpPr>
          <p:cNvPr id="16" name="Placeholder"/>
          <p:cNvSpPr/>
          <p:nvPr/>
        </p:nvSpPr>
        <p:spPr>
          <a:xfrm>
            <a:off x="4892040" y="3566160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7" name="Placeholder text"/>
          <p:cNvSpPr txBox="1"/>
          <p:nvPr/>
        </p:nvSpPr>
        <p:spPr>
          <a:xfrm>
            <a:off x="5001768" y="3566160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1</a:t>
            </a:r>
            <a:endParaRPr lang="en-US" sz="1150" dirty="0"/>
          </a:p>
        </p:txBody>
      </p:sp>
      <p:sp>
        <p:nvSpPr>
          <p:cNvPr id="18" name="Placeholder"/>
          <p:cNvSpPr/>
          <p:nvPr/>
        </p:nvSpPr>
        <p:spPr>
          <a:xfrm>
            <a:off x="4892040" y="4370832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9" name="Placeholder text"/>
          <p:cNvSpPr txBox="1"/>
          <p:nvPr/>
        </p:nvSpPr>
        <p:spPr>
          <a:xfrm>
            <a:off x="5001768" y="4370832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2</a:t>
            </a:r>
            <a:endParaRPr lang="en-US" sz="1150" dirty="0"/>
          </a:p>
        </p:txBody>
      </p:sp>
      <p:sp>
        <p:nvSpPr>
          <p:cNvPr id="20" name="Placeholder"/>
          <p:cNvSpPr/>
          <p:nvPr/>
        </p:nvSpPr>
        <p:spPr>
          <a:xfrm>
            <a:off x="4892040" y="5175504"/>
            <a:ext cx="321548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1" name="Placeholder text"/>
          <p:cNvSpPr txBox="1"/>
          <p:nvPr/>
        </p:nvSpPr>
        <p:spPr>
          <a:xfrm>
            <a:off x="5001768" y="5175504"/>
            <a:ext cx="2996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[ADD] </a:t>
            </a:r>
            <a:pPr algn="l"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Reason 3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427568" y="3246120"/>
            <a:ext cx="321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FIT WITH ADYEN'S BRIEF</a:t>
            </a:r>
            <a:endParaRPr lang="en-US" sz="1050" dirty="0"/>
          </a:p>
        </p:txBody>
      </p:sp>
      <p:sp>
        <p:nvSpPr>
          <p:cNvPr id="23" name="Card"/>
          <p:cNvSpPr/>
          <p:nvPr/>
        </p:nvSpPr>
        <p:spPr>
          <a:xfrm>
            <a:off x="8427568" y="3566160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10448" y="3566160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Integration inside the partner's business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865815" y="3566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26" name="Card"/>
          <p:cNvSpPr/>
          <p:nvPr/>
        </p:nvSpPr>
        <p:spPr>
          <a:xfrm>
            <a:off x="8427568" y="4050792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10448" y="4050792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Clear line to revenue and payment volume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0865815" y="405079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29" name="Card"/>
          <p:cNvSpPr/>
          <p:nvPr/>
        </p:nvSpPr>
        <p:spPr>
          <a:xfrm>
            <a:off x="8427568" y="4535424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10448" y="4535424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Hospitality at the centre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865815" y="453542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2" name="Card"/>
          <p:cNvSpPr/>
          <p:nvPr/>
        </p:nvSpPr>
        <p:spPr>
          <a:xfrm>
            <a:off x="8427568" y="5020056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10448" y="5020056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Access to the partner's commercial network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865815" y="502005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5" name="Card"/>
          <p:cNvSpPr/>
          <p:nvPr/>
        </p:nvSpPr>
        <p:spPr>
          <a:xfrm>
            <a:off x="8427568" y="5504688"/>
            <a:ext cx="3215488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10448" y="5504688"/>
            <a:ext cx="2301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Reach in Europe, North America and APAC (incl. Japan, India)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0865815" y="550468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[ ● ◐ ○ ]</a:t>
            </a:r>
            <a:endParaRPr lang="en-US" sz="1050" dirty="0"/>
          </a:p>
        </p:txBody>
      </p:sp>
      <p:sp>
        <p:nvSpPr>
          <p:cNvPr id="38" name="Text 2"/>
          <p:cNvSpPr/>
          <p:nvPr>
            <p:ph type="pic" idx="103" hasCustomPrompt="1"/>
          </p:nvPr>
        </p:nvSpPr>
        <p:spPr>
          <a:xfrm>
            <a:off x="0" y="0"/>
            <a:ext cx="4434840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Our recommendation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The preferred route, how Adyen integrates, the rights, and the investment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Why Formula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2244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22244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Competitive landscape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5715000"/>
            <a:ext cx="25907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5848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03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opportunities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451" y="5715000"/>
            <a:ext cx="25907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451" y="58064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RECOMMENDATION · ASSESSMENT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Why we recommend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[ADD: asset]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SPORTFIVE assessment against Adyen's partnership brief.</a:t>
            </a:r>
            <a:endParaRPr lang="en-US" sz="900" dirty="0"/>
          </a:p>
        </p:txBody>
      </p:sp>
      <p:graphicFrame>
        <p:nvGraphicFramePr>
          <p:cNvPr id="20" name="Assess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4233672"/>
                <a:gridCol w="2286000"/>
                <a:gridCol w="228600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Alpine F1 Team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Scuderia Ferrari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Max Verstappen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Integration inside the partner's business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Clear line to revenue and payment volume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Hospitality at the centre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Access to the partner's commercial network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Reach in Europe, North America and APAC (incl. Japan, India)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Fits the investment envelope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Payments category available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chemeClr val="accent3"/>
                          </a:solidFill>
                        </a:rPr>
                        <a:t>[ADD ● ◐ ○ + evidence]</a:t>
                      </a:r>
                      <a:endParaRPr lang="en-US" sz="105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strong fit   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◐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partial   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○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weak</a:t>
            </a:r>
            <a:endParaRPr lang="en-US" sz="1100" dirty="0"/>
          </a:p>
        </p:txBody>
      </p:sp>
      <p:sp>
        <p:nvSpPr>
          <p:cNvPr id="8" name="Recommendation strip"/>
          <p:cNvSpPr/>
          <p:nvPr/>
        </p:nvSpPr>
        <p:spPr>
          <a:xfrm>
            <a:off x="548640" y="5504688"/>
            <a:ext cx="11094415" cy="566928"/>
          </a:xfrm>
          <a:prstGeom prst="roundRect">
            <a:avLst>
              <a:gd name="adj" fmla="val 129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550468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Our recommendation  </a:t>
            </a:r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[ADD: asset], because [ADD: one-line rationale]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RECOMMENDATION · BUSINESS INTEGRATION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Where Adyen sits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inside [ADD: asset]'s business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[ADD]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32572" y="2468880"/>
            <a:ext cx="8526551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548640" y="2926080"/>
            <a:ext cx="256786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21092" y="2057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602" y="225491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3108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 Power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Adyen runs the partner's payments across ticketing, e-commerce, merchandise and hospitality.</a:t>
            </a:r>
            <a:endParaRPr lang="en-US" sz="1250" dirty="0"/>
          </a:p>
        </p:txBody>
      </p:sp>
      <p:sp>
        <p:nvSpPr>
          <p:cNvPr id="12" name="Placeholder"/>
          <p:cNvSpPr/>
          <p:nvPr/>
        </p:nvSpPr>
        <p:spPr>
          <a:xfrm>
            <a:off x="731520" y="4526280"/>
            <a:ext cx="2202104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3" name="Placeholder text"/>
          <p:cNvSpPr txBox="1"/>
          <p:nvPr/>
        </p:nvSpPr>
        <p:spPr>
          <a:xfrm>
            <a:off x="841248" y="4526280"/>
            <a:ext cx="198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Which flows Adyen powers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3390824" y="2926080"/>
            <a:ext cx="256786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63276" y="2057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786" y="22549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19424" y="3108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 Prove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619424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Live volumes and conversion data become a flagship, client-facing case study.</a:t>
            </a:r>
            <a:endParaRPr lang="en-US" sz="1250" dirty="0"/>
          </a:p>
        </p:txBody>
      </p:sp>
      <p:sp>
        <p:nvSpPr>
          <p:cNvPr id="19" name="Placeholder"/>
          <p:cNvSpPr/>
          <p:nvPr/>
        </p:nvSpPr>
        <p:spPr>
          <a:xfrm>
            <a:off x="3573704" y="4526280"/>
            <a:ext cx="2202104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0" name="Placeholder text"/>
          <p:cNvSpPr txBox="1"/>
          <p:nvPr/>
        </p:nvSpPr>
        <p:spPr>
          <a:xfrm>
            <a:off x="3683432" y="4526280"/>
            <a:ext cx="198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KPIs to report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6233008" y="2926080"/>
            <a:ext cx="256786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05460" y="2057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970" y="225491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61608" y="3108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 Host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61608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Hospitality at the centre, connecting clients across the partner's ecosystem.</a:t>
            </a:r>
            <a:endParaRPr lang="en-US" sz="1250" dirty="0"/>
          </a:p>
        </p:txBody>
      </p:sp>
      <p:sp>
        <p:nvSpPr>
          <p:cNvPr id="26" name="Placeholder"/>
          <p:cNvSpPr/>
          <p:nvPr/>
        </p:nvSpPr>
        <p:spPr>
          <a:xfrm>
            <a:off x="6415888" y="4526280"/>
            <a:ext cx="2202104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27" name="Placeholder text"/>
          <p:cNvSpPr txBox="1"/>
          <p:nvPr/>
        </p:nvSpPr>
        <p:spPr>
          <a:xfrm>
            <a:off x="6525616" y="4526280"/>
            <a:ext cx="198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Races, guests, format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9075191" y="2926080"/>
            <a:ext cx="2567864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947643" y="2057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154" y="2254910"/>
            <a:ext cx="427939" cy="42793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03791" y="31089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 Connect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303791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Access to the partner's commercial network turns into qualified pipeline.</a:t>
            </a:r>
            <a:endParaRPr lang="en-US" sz="1250" dirty="0"/>
          </a:p>
        </p:txBody>
      </p:sp>
      <p:sp>
        <p:nvSpPr>
          <p:cNvPr id="33" name="Placeholder"/>
          <p:cNvSpPr/>
          <p:nvPr/>
        </p:nvSpPr>
        <p:spPr>
          <a:xfrm>
            <a:off x="9258071" y="4526280"/>
            <a:ext cx="2202104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4" name="Placeholder text"/>
          <p:cNvSpPr txBox="1"/>
          <p:nvPr/>
        </p:nvSpPr>
        <p:spPr>
          <a:xfrm>
            <a:off x="9367799" y="4526280"/>
            <a:ext cx="198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Target partners and accounts</a:t>
            </a:r>
            <a:endParaRPr lang="en-US" sz="1100" dirty="0"/>
          </a:p>
        </p:txBody>
      </p:sp>
      <p:sp>
        <p:nvSpPr>
          <p:cNvPr id="35" name="So what"/>
          <p:cNvSpPr/>
          <p:nvPr/>
        </p:nvSpPr>
        <p:spPr>
          <a:xfrm>
            <a:off x="548640" y="5577840"/>
            <a:ext cx="11094415" cy="530352"/>
          </a:xfrm>
          <a:prstGeom prst="roundRect">
            <a:avLst>
              <a:gd name="adj" fmla="val 1379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77240" y="557784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So what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integration first, not a logo deal.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Every route is tested on how deeply Adyen sits inside the partner's commercial operations.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RECOMMENDATION · VALUE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A clear line to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revenue and payment volume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Adyen case studies (FC Bayern, RSC Anderlecht); KPI targets [ADD].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HOW THE PARTNERSHIP PAYS BACK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548640" y="2148840"/>
            <a:ext cx="31775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404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505822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404872"/>
            <a:ext cx="21717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 volume processed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97180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3"/>
                </a:solidFill>
              </a:rPr>
              <a:t>[ADD]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47472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€ through the partner's commerce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4000500" y="2148840"/>
            <a:ext cx="31775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74820" y="2404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770" y="2505822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23460" y="2404872"/>
            <a:ext cx="21717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Qualified pipeline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274820" y="297180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3"/>
                </a:solidFill>
              </a:rPr>
              <a:t>[ADD]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4274820" y="347472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€ from hospitality and network introductions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548640" y="4160520"/>
            <a:ext cx="31775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4165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0" y="451750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4416552"/>
            <a:ext cx="21717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C-level guests hosted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8348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3"/>
                </a:solidFill>
              </a:rPr>
              <a:t>[ADD]</a:t>
            </a:r>
            <a:endParaRPr lang="en-US" sz="28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48640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 per season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4000500" y="4160520"/>
            <a:ext cx="31775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274820" y="44165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770" y="4517502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823460" y="4416552"/>
            <a:ext cx="21717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Case studies and new logos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274820" y="498348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3"/>
                </a:solidFill>
              </a:rPr>
              <a:t>[ADD]</a:t>
            </a:r>
            <a:endParaRPr lang="en-US" sz="2800" dirty="0"/>
          </a:p>
        </p:txBody>
      </p:sp>
      <p:sp>
        <p:nvSpPr>
          <p:cNvPr id="30" name="Text 23"/>
          <p:cNvSpPr txBox="1"/>
          <p:nvPr/>
        </p:nvSpPr>
        <p:spPr>
          <a:xfrm>
            <a:off x="4274820" y="548640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# per season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498080" y="1828800"/>
            <a:ext cx="4144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PROOF: ADYEN ALREADY POWERS SPORT</a:t>
            </a:r>
            <a:endParaRPr lang="en-US" sz="1050" dirty="0"/>
          </a:p>
        </p:txBody>
      </p:sp>
      <p:sp>
        <p:nvSpPr>
          <p:cNvPr id="32" name="Proof card"/>
          <p:cNvSpPr/>
          <p:nvPr/>
        </p:nvSpPr>
        <p:spPr>
          <a:xfrm>
            <a:off x="7498080" y="2148840"/>
            <a:ext cx="4144975" cy="1783080"/>
          </a:xfrm>
          <a:prstGeom prst="roundRect">
            <a:avLst>
              <a:gd name="adj" fmla="val 41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772400" y="2350008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+36.6%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7772400" y="2971800"/>
            <a:ext cx="3596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F&amp;B revenue at RSC Anderlecht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after moving the whole matchday fan journey to digital payments with Adyen.</a:t>
            </a:r>
            <a:endParaRPr lang="en-US" sz="1200" dirty="0"/>
          </a:p>
        </p:txBody>
      </p:sp>
      <p:sp>
        <p:nvSpPr>
          <p:cNvPr id="35" name="Proof card"/>
          <p:cNvSpPr/>
          <p:nvPr/>
        </p:nvSpPr>
        <p:spPr>
          <a:xfrm>
            <a:off x="7498080" y="4160520"/>
            <a:ext cx="4144975" cy="1783080"/>
          </a:xfrm>
          <a:prstGeom prst="roundRect">
            <a:avLst>
              <a:gd name="adj" fmla="val 41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772400" y="4361688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1 platform</a:t>
            </a:r>
            <a:endParaRPr lang="en-US" sz="3000" dirty="0"/>
          </a:p>
        </p:txBody>
      </p:sp>
      <p:sp>
        <p:nvSpPr>
          <p:cNvPr id="37" name="Text 30"/>
          <p:cNvSpPr txBox="1"/>
          <p:nvPr/>
        </p:nvSpPr>
        <p:spPr>
          <a:xfrm>
            <a:off x="7772400" y="4983480"/>
            <a:ext cx="3596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 every FC Bayern payment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across ticketing, retail, lifestyle and streaming, with new insight into fan behaviour.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RECOMMENDATION · RIGHTS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Rights overview: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[ADD: asset]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[ADD: rights-holder proposal]. Provisional, subject to contract.</a:t>
            </a:r>
            <a:endParaRPr lang="en-US" sz="900" dirty="0"/>
          </a:p>
        </p:txBody>
      </p:sp>
      <p:graphicFrame>
        <p:nvGraphicFramePr>
          <p:cNvPr id="23" name="Righ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89120"/>
                <a:gridCol w="40507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Adyen receives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Why it matters for Adyen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Designation and category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Brand visibility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Content and IP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Hospitality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Access and network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Term and investment</a:t>
                      </a:r>
                      <a:endParaRPr lang="en-US" sz="12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accent3"/>
                          </a:solidFill>
                        </a:rPr>
                        <a:t>[ADD]</a:t>
                      </a:r>
                      <a:endParaRPr lang="en-US" sz="1100" dirty="0"/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RECOMMENDATION · INVESTMENT AND NEXT STEPS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Investment and </a:t>
            </a:r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Source: Adyen budget guidance; GlobalData (average annual value of new F1 deals, 2025).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INVESTMENT ENVELOPE (PER YEAR)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Prove the model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77440" y="2295144"/>
            <a:ext cx="4343400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77440" y="2295144"/>
            <a:ext cx="108585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63290" y="2295144"/>
            <a:ext cx="434340" cy="274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8907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$5–7M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377440" y="2651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What this level buys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Defensible core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77440" y="3319272"/>
            <a:ext cx="4343400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7440" y="3319272"/>
            <a:ext cx="21717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40580" y="32644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$10M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36758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What this level buys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2885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Flagship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377440" y="4343400"/>
            <a:ext cx="4343400" cy="274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77440" y="4343400"/>
            <a:ext cx="43434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42885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$20M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377440" y="47000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What this level buys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32683" y="2221992"/>
            <a:ext cx="0" cy="420624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3632683" y="3246120"/>
            <a:ext cx="0" cy="420624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3632683" y="4270248"/>
            <a:ext cx="0" cy="420624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48640" y="5230368"/>
            <a:ext cx="27432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914400" y="5102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Average annual value of a new F1 deal, 2025: $5.78M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1828800"/>
            <a:ext cx="4144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chemeClr val="tx2"/>
                </a:solidFill>
              </a:rPr>
              <a:t>NEXT STEPS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626096" y="2331720"/>
            <a:ext cx="0" cy="25603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98080" y="219456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55280" y="2148840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Chairman aligns on the preferred route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955280" y="24963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date and owner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498080" y="3035808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55280" y="2990088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Headline terms agreed with the rights-holder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955280" y="33375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date and owner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498080" y="3877056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955280" y="3831336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Contract and integration plan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955280" y="4178808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date and owner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498080" y="471830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955280" y="4672584"/>
            <a:ext cx="3687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Launch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955280" y="5020056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[ADD] </a:t>
            </a:r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date and owner</a:t>
            </a:r>
            <a:endParaRPr lang="en-US" sz="1100" dirty="0"/>
          </a:p>
        </p:txBody>
      </p:sp>
      <p:sp>
        <p:nvSpPr>
          <p:cNvPr id="42" name="Decision strip"/>
          <p:cNvSpPr/>
          <p:nvPr/>
        </p:nvSpPr>
        <p:spPr>
          <a:xfrm>
            <a:off x="548640" y="5577840"/>
            <a:ext cx="11094415" cy="530352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960" y="557784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Decision needed  </a:t>
            </a:r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[ADD: the approval you are asking the Chairman for]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APPENDIX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Sources and notes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Prepared by SPORTFIVE for Adyen. Data as supplied; not independently verified unless stated.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GWI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828800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Global F1 audience 2022–2026; F1 audience by Adyen office market (2026 vs 2022); sport affinity indices for five Adyen-relevant audiences. Indices are not percentages; ranking covers the five sports assessed.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23744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GlobalData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615184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F1 sponsorship, 2020–2025: new deals only, excluding renewals. Total deal value is not annual sponsorship revenue. 2026 is year-to-date ($1.91B, 139 deals).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310128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015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F1 calendar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3401568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2027 race locations as supplied to SPORTFIVE; calendar not independently confirmed.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096512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1879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Adyen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4187952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Office locations (28 cities, 22 markets); FC Bayern and RSC Anderlecht case studies; partnership brief.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882896"/>
            <a:ext cx="1109441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9743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SPORTFIVE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4974336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Competitor sports-property scan (not exhaustive; no equivalence of rights, fees or exclusivity implied); payments presence in F1.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38251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yen">
  <a:themeElements>
    <a:clrScheme name="Adyen">
      <a:dk1>
        <a:srgbClr val="00112C"/>
      </a:dk1>
      <a:lt1>
        <a:srgbClr val="FFFFFF"/>
      </a:lt1>
      <a:dk2>
        <a:srgbClr val="404B5F"/>
      </a:dk2>
      <a:lt2>
        <a:srgbClr val="F7F8F9"/>
      </a:lt2>
      <a:accent1>
        <a:srgbClr val="0ABF53"/>
      </a:accent1>
      <a:accent2>
        <a:srgbClr val="079A44"/>
      </a:accent2>
      <a:accent3>
        <a:srgbClr val="8F97A3"/>
      </a:accent3>
      <a:accent4>
        <a:srgbClr val="D5DAE0"/>
      </a:accent4>
      <a:accent5>
        <a:srgbClr val="1B2A44"/>
      </a:accent5>
      <a:accent6>
        <a:srgbClr val="E6F8ED"/>
      </a:accent6>
      <a:hlink>
        <a:srgbClr val="079A44"/>
      </a:hlink>
      <a:folHlink>
        <a:srgbClr val="079A44"/>
      </a:folHlink>
    </a:clrScheme>
    <a:fontScheme name="Adyen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SPORTFIVE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Adyen x Formula 1</dc:title>
  <dc:subject>PptxGenJS Presentation</dc:subject>
  <dc:creator>PptxGenJS</dc:creator>
  <cp:lastModifiedBy>PptxGenJS</cp:lastModifiedBy>
  <cp:revision>1</cp:revision>
  <dcterms:created xsi:type="dcterms:W3CDTF">2026-10-29T14:29:32Z</dcterms:created>
  <dcterms:modified xsi:type="dcterms:W3CDTF">2026-10-29T14:29:32Z</dcterms:modified>
</cp:coreProperties>
</file>